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9728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6C63FF"/>
                </a:solidFill>
              </a:rPr>
              <a:t>VISOR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365760" y="192024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AI Integration Audit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25146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</a:rPr>
              <a:t>API Keys · Fallbacks · Model Comparison · Recommendations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3108960"/>
            <a:ext cx="4023360" cy="27432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3383280"/>
            <a:ext cx="164592" cy="164592"/>
          </a:xfrm>
          <a:prstGeom prst="ellipse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33375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GEMINI_API_KEY usage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858768"/>
            <a:ext cx="164592" cy="164592"/>
          </a:xfrm>
          <a:prstGeom prst="ellipse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381304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OPEN_AI_NUTRITION_API_KEY usage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4334256"/>
            <a:ext cx="164592" cy="164592"/>
          </a:xfrm>
          <a:prstGeom prst="ellipse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428853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Fallback analysis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4809744"/>
            <a:ext cx="164592" cy="164592"/>
          </a:xfrm>
          <a:prstGeom prst="ellipse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476402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Model comparisons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5285232"/>
            <a:ext cx="164592" cy="164592"/>
          </a:xfrm>
          <a:prstGeom prst="ellipse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52395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Action items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63093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September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6459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6C63FF"/>
                </a:solidFill>
              </a:rPr>
              <a:t>OVERVIEW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228600" y="457200"/>
            <a:ext cx="1170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Two API Keys Power All Visor AI Features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987552"/>
            <a:ext cx="11704320" cy="18288"/>
          </a:xfrm>
          <a:prstGeom prst="rect">
            <a:avLst/>
          </a:prstGeom>
          <a:solidFill>
            <a:srgbClr val="2A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18872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1A1A2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88720"/>
            <a:ext cx="5394960" cy="457200"/>
          </a:xfrm>
          <a:prstGeom prst="rect">
            <a:avLst>
              <a:gd name="adj" fmla="val 16000"/>
            </a:avLst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216152"/>
            <a:ext cx="5212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GEMINI_API_KEY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810512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💬  Visor AI Chat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212140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Primary: gemini-2.5-flash   →   Fallback: gemini-2.0-flash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2633472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📋  AI Plan Generation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294436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Primary: gemini-2.5-flash   →   Fallback: gemini-2.0-flash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11480" y="3456432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📸  Food Scanner (Vision)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" y="376732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Primary: gemini-2.5-flash   →   Fallback: gemini-2.0-flash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11480" y="4279392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🥗  Nutrition Plan Generation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1480" y="459028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Primary: gemini-2.5-flash   →   Fallback: gemini-2.0-flash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897880" y="1188720"/>
            <a:ext cx="6035040" cy="4480560"/>
          </a:xfrm>
          <a:prstGeom prst="roundRect">
            <a:avLst>
              <a:gd name="adj" fmla="val 1633"/>
            </a:avLst>
          </a:prstGeom>
          <a:solidFill>
            <a:srgbClr val="1A1A2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97880" y="1188720"/>
            <a:ext cx="6035040" cy="457200"/>
          </a:xfrm>
          <a:prstGeom prst="rect">
            <a:avLst>
              <a:gd name="adj" fmla="val 16000"/>
            </a:avLst>
          </a:prstGeom>
          <a:solidFill>
            <a:srgbClr val="10A3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89320" y="1216152"/>
            <a:ext cx="5852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OPEN_AI_NUTRITION_API_KEY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89320" y="1810512"/>
            <a:ext cx="5760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🍽️  Meal Images (DALL-E 3)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89320" y="214884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Model: dall-e-3  ·  1024×1024 standard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989320" y="3273552"/>
            <a:ext cx="5760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🏅  Ritual Motivational Messages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89320" y="361188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AAD14"/>
                </a:solidFill>
              </a:rPr>
              <a:t>Model: gpt-4o  ⚠️  (should be gpt-4o-mini)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897880" y="4297680"/>
            <a:ext cx="6035040" cy="1325880"/>
          </a:xfrm>
          <a:prstGeom prst="roundRect">
            <a:avLst>
              <a:gd name="adj" fmla="val 5517"/>
            </a:avLst>
          </a:prstGeom>
          <a:solidFill>
            <a:srgbClr val="0A0A1A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97880" y="4297680"/>
            <a:ext cx="73152" cy="1325880"/>
          </a:xfrm>
          <a:prstGeom prst="rect">
            <a:avLst/>
          </a:prstGeom>
          <a:solidFill>
            <a:srgbClr val="00C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80760" y="4389120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</a:rPr>
              <a:t>⚡  Body Transformation / Projections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080760" y="4709160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Uses your own GPU Backend (Azure Container App /transform)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No text-model API keys — fully internal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6459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6C63FF"/>
                </a:solidFill>
              </a:rPr>
              <a:t>GEMINI_API_KEY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228600" y="457200"/>
            <a:ext cx="1170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Gemini Features — Fallback Analysis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987552"/>
            <a:ext cx="11704320" cy="18288"/>
          </a:xfrm>
          <a:prstGeom prst="rect">
            <a:avLst/>
          </a:prstGeom>
          <a:solidFill>
            <a:srgbClr val="2A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188720"/>
            <a:ext cx="2057400" cy="640080"/>
          </a:xfrm>
          <a:prstGeom prst="rect">
            <a:avLst/>
          </a:prstGeom>
          <a:solidFill>
            <a:srgbClr val="6C63FF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" y="1216152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Feature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377440" y="1188720"/>
            <a:ext cx="2514600" cy="640080"/>
          </a:xfrm>
          <a:prstGeom prst="rect">
            <a:avLst/>
          </a:prstGeom>
          <a:solidFill>
            <a:srgbClr val="6C63FF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50592" y="1216152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File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983480" y="1188720"/>
            <a:ext cx="1965960" cy="640080"/>
          </a:xfrm>
          <a:prstGeom prst="rect">
            <a:avLst/>
          </a:prstGeom>
          <a:solidFill>
            <a:srgbClr val="6C63FF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56632" y="1216152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Primary Model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040880" y="1188720"/>
            <a:ext cx="1965960" cy="640080"/>
          </a:xfrm>
          <a:prstGeom prst="rect">
            <a:avLst/>
          </a:prstGeom>
          <a:solidFill>
            <a:srgbClr val="6C63FF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14032" y="1216152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Model Fallback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098280" y="1188720"/>
            <a:ext cx="1691640" cy="640080"/>
          </a:xfrm>
          <a:prstGeom prst="rect">
            <a:avLst/>
          </a:prstGeom>
          <a:solidFill>
            <a:srgbClr val="6C63FF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71432" y="1216152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Key Fallback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28600" y="1874520"/>
            <a:ext cx="2057400" cy="640080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1752" y="1901952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💬 Visor AI Chat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377440" y="1874520"/>
            <a:ext cx="2514600" cy="640080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50592" y="1901952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ai_proxy/views.py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983480" y="1874520"/>
            <a:ext cx="1965960" cy="640080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56632" y="1901952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gemini-2.5-flash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040880" y="1874520"/>
            <a:ext cx="1965960" cy="640080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14032" y="1901952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C41A"/>
                </a:solidFill>
              </a:rPr>
              <a:t>✅ gemini-2.0-flash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098280" y="1874520"/>
            <a:ext cx="1691640" cy="640080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71432" y="1901952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4D4F"/>
                </a:solidFill>
              </a:rPr>
              <a:t>❌ HTTP 503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28600" y="2560320"/>
            <a:ext cx="2057400" cy="640080"/>
          </a:xfrm>
          <a:prstGeom prst="rect">
            <a:avLst/>
          </a:prstGeom>
          <a:solidFill>
            <a:srgbClr val="16213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1752" y="2587752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📋 AI Plan Generation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377440" y="2560320"/>
            <a:ext cx="2514600" cy="640080"/>
          </a:xfrm>
          <a:prstGeom prst="rect">
            <a:avLst/>
          </a:prstGeom>
          <a:solidFill>
            <a:srgbClr val="16213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450592" y="2587752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ai_proxy/services.py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983480" y="2560320"/>
            <a:ext cx="1965960" cy="640080"/>
          </a:xfrm>
          <a:prstGeom prst="rect">
            <a:avLst/>
          </a:prstGeom>
          <a:solidFill>
            <a:srgbClr val="16213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56632" y="2587752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gemini-2.5-flash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040880" y="2560320"/>
            <a:ext cx="1965960" cy="640080"/>
          </a:xfrm>
          <a:prstGeom prst="rect">
            <a:avLst/>
          </a:prstGeom>
          <a:solidFill>
            <a:srgbClr val="16213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14032" y="2587752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C41A"/>
                </a:solidFill>
              </a:rPr>
              <a:t>✅ gemini-2.0-flash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9098280" y="2560320"/>
            <a:ext cx="1691640" cy="640080"/>
          </a:xfrm>
          <a:prstGeom prst="rect">
            <a:avLst/>
          </a:prstGeom>
          <a:solidFill>
            <a:srgbClr val="16213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71432" y="2587752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4D4F"/>
                </a:solidFill>
              </a:rPr>
              <a:t>❌ ValueError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246120"/>
            <a:ext cx="2057400" cy="640080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1752" y="3273552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📸 Food Scanner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377440" y="3246120"/>
            <a:ext cx="2514600" cy="640080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450592" y="3273552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ai_proxy/views.py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983480" y="3246120"/>
            <a:ext cx="1965960" cy="640080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56632" y="3273552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gemini-2.5-flash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040880" y="3246120"/>
            <a:ext cx="1965960" cy="640080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14032" y="3273552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C41A"/>
                </a:solidFill>
              </a:rPr>
              <a:t>✅ gemini-2.0-flash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098280" y="3246120"/>
            <a:ext cx="1691640" cy="640080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171432" y="3273552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4D4F"/>
                </a:solidFill>
              </a:rPr>
              <a:t>❌ HTTP 503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28600" y="3931920"/>
            <a:ext cx="2057400" cy="640080"/>
          </a:xfrm>
          <a:prstGeom prst="rect">
            <a:avLst/>
          </a:prstGeom>
          <a:solidFill>
            <a:srgbClr val="16213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01752" y="3959352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🥗 Nutrition Plan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377440" y="3931920"/>
            <a:ext cx="2514600" cy="640080"/>
          </a:xfrm>
          <a:prstGeom prst="rect">
            <a:avLst/>
          </a:prstGeom>
          <a:solidFill>
            <a:srgbClr val="16213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450592" y="3959352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recommendations/services.py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983480" y="3931920"/>
            <a:ext cx="1965960" cy="640080"/>
          </a:xfrm>
          <a:prstGeom prst="rect">
            <a:avLst/>
          </a:prstGeom>
          <a:solidFill>
            <a:srgbClr val="16213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56632" y="3959352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gemini-2.5-flash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040880" y="3931920"/>
            <a:ext cx="1965960" cy="640080"/>
          </a:xfrm>
          <a:prstGeom prst="rect">
            <a:avLst/>
          </a:prstGeom>
          <a:solidFill>
            <a:srgbClr val="16213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114032" y="3959352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C41A"/>
                </a:solidFill>
              </a:rPr>
              <a:t>✅ gemini-2.0-flash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9098280" y="3931920"/>
            <a:ext cx="1691640" cy="640080"/>
          </a:xfrm>
          <a:prstGeom prst="rect">
            <a:avLst/>
          </a:prstGeom>
          <a:solidFill>
            <a:srgbClr val="16213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171432" y="3959352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4D4F"/>
                </a:solidFill>
              </a:rPr>
              <a:t>❌ Error dict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28600" y="4800600"/>
            <a:ext cx="11704320" cy="1645920"/>
          </a:xfrm>
          <a:prstGeom prst="roundRect">
            <a:avLst>
              <a:gd name="adj" fmla="val 4444"/>
            </a:avLst>
          </a:prstGeom>
          <a:solidFill>
            <a:srgbClr val="1A0A0A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28600" y="4800600"/>
            <a:ext cx="64008" cy="1645920"/>
          </a:xfrm>
          <a:prstGeom prst="rect">
            <a:avLst/>
          </a:prstGeom>
          <a:solidFill>
            <a:srgbClr val="FAAD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11480" y="4892040"/>
            <a:ext cx="11338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AD14"/>
                </a:solidFill>
              </a:rPr>
              <a:t>⚠️  Gap: No Provider-Level Fallback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411480" y="5230368"/>
            <a:ext cx="11338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</a:rPr>
              <a:t>All 4 Gemini features will fail simultaneously if the GEMINI_API_KEY is invalid or the Gemini API is down.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</a:rPr>
              <a:t>There is no automatic switch to OpenAI, Claude, or Groq as a backup provider.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411480" y="5760720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C63FF"/>
                </a:solidFill>
              </a:rPr>
              <a:t>→ Recommendation: Add Groq or OpenAI as a provider-level fallback for chat &amp; plan generation.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6459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6C63FF"/>
                </a:solidFill>
              </a:rPr>
              <a:t>OPEN_AI_NUTRITION_API_KEY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228600" y="457200"/>
            <a:ext cx="1170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OpenAI Features — Fallback Analysis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987552"/>
            <a:ext cx="11704320" cy="18288"/>
          </a:xfrm>
          <a:prstGeom prst="rect">
            <a:avLst/>
          </a:prstGeom>
          <a:solidFill>
            <a:srgbClr val="2A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188720"/>
            <a:ext cx="5577840" cy="2468880"/>
          </a:xfrm>
          <a:prstGeom prst="roundRect">
            <a:avLst>
              <a:gd name="adj" fmla="val 2963"/>
            </a:avLst>
          </a:prstGeom>
          <a:solidFill>
            <a:srgbClr val="1A1A2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88720"/>
            <a:ext cx="5577840" cy="438912"/>
          </a:xfrm>
          <a:prstGeom prst="rect">
            <a:avLst>
              <a:gd name="adj" fmla="val 16667"/>
            </a:avLst>
          </a:prstGeom>
          <a:solidFill>
            <a:srgbClr val="10A3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216152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🍽️  Meal Images  ·  DALL-E 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1719072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File: recommendations/services.py — NutritionService.generate_nutrition_plan()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20040" y="2011680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Model: dall-e-3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230428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C41A"/>
                </a:solidFill>
              </a:rPr>
              <a:t>Key missing → image_url = null (soft fallback, meals still returned)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20040" y="257860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C41A"/>
                </a:solidFill>
              </a:rPr>
              <a:t>Call fails → image_url = null, continues to next meal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20040" y="285292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AAD14"/>
                </a:solidFill>
              </a:rPr>
              <a:t>No model-level fallback (DALL-E 2 / Flux not tried)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20040" y="32461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2C41A"/>
                </a:solidFill>
              </a:rPr>
              <a:t>✅  Overall: graceful — images are optional, plan always returns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35040" y="1188720"/>
            <a:ext cx="5943600" cy="2468880"/>
          </a:xfrm>
          <a:prstGeom prst="roundRect">
            <a:avLst>
              <a:gd name="adj" fmla="val 2963"/>
            </a:avLst>
          </a:prstGeom>
          <a:solidFill>
            <a:srgbClr val="1A1A2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1188720"/>
            <a:ext cx="5943600" cy="438912"/>
          </a:xfrm>
          <a:prstGeom prst="rect">
            <a:avLst>
              <a:gd name="adj" fmla="val 16667"/>
            </a:avLst>
          </a:prstGeom>
          <a:solidFill>
            <a:srgbClr val="FF4D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216152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🏅  Ritual Motivational Messages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26480" y="1719072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File: rituals/services/gpt_service.py — GPTService.get_motivation()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126480" y="201168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AAD14"/>
                </a:solidFill>
              </a:rPr>
              <a:t>Model: gpt-4o  ← from settings.py default  ⚠️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26480" y="2304288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C41A"/>
                </a:solidFill>
              </a:rPr>
              <a:t>Key missing → ✅ Hardcoded fallback messages (5 streak tiers)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126480" y="2578608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C41A"/>
                </a:solidFill>
              </a:rPr>
              <a:t>Call fails → ✅ Falls back to FALLBACK_MESSAGES dict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126480" y="2852928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AAD14"/>
                </a:solidFill>
              </a:rPr>
              <a:t>No model fallback (GPT-4o mini not tried automatically)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126480" y="324612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AAD14"/>
                </a:solidFill>
              </a:rPr>
              <a:t>✅  Overall: resilient — but using wrong (expensive) model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28600" y="3886200"/>
            <a:ext cx="11704320" cy="2194560"/>
          </a:xfrm>
          <a:prstGeom prst="roundRect">
            <a:avLst>
              <a:gd name="adj" fmla="val 3333"/>
            </a:avLst>
          </a:prstGeom>
          <a:solidFill>
            <a:srgbClr val="1A0010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8600" y="3886200"/>
            <a:ext cx="64008" cy="2194560"/>
          </a:xfrm>
          <a:prstGeom prst="rect">
            <a:avLst/>
          </a:prstGeom>
          <a:solidFill>
            <a:srgbClr val="FF4D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9776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D4F"/>
                </a:solidFill>
              </a:rPr>
              <a:t>🐛  Bug: Wrong OpenAI Model in Production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11480" y="440740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CCCCC"/>
                </a:solidFill>
              </a:rPr>
              <a:t>config/settings.py  </a:t>
            </a:r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line 398  →  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OPENAI_MODEL = os.environ.get('OPENAI_MODEL', '</a:t>
            </a:r>
            <a:pPr indent="0" marL="0">
              <a:buNone/>
            </a:pPr>
            <a:r>
              <a:rPr lang="en-US" sz="1000" b="1" dirty="0">
                <a:solidFill>
                  <a:srgbClr val="FF4D4F"/>
                </a:solidFill>
              </a:rPr>
              <a:t>gpt-4o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')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11480" y="473659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CCCCC"/>
                </a:solidFill>
              </a:rPr>
              <a:t>rituals/services/gpt_service.py  </a:t>
            </a:r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→ uses settings.OPENAI_MODEL which defaults to </a:t>
            </a:r>
            <a:pPr indent="0" marL="0">
              <a:buNone/>
            </a:pPr>
            <a:r>
              <a:rPr lang="en-US" sz="1000" b="1" dirty="0">
                <a:solidFill>
                  <a:srgbClr val="FAAD14"/>
                </a:solidFill>
              </a:rPr>
              <a:t>gpt-4o  (NOT gpt-4o-mini as the code comment implies)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11480" y="50749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AAD14"/>
                </a:solidFill>
              </a:rPr>
              <a:t>💸  Impact: gpt-4o costs ~$0.0008/message vs $0.00005 for gpt-4o-mini  →  16× overspend on 80-character motivational messages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11480" y="5394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C63FF"/>
                </a:solidFill>
              </a:rPr>
              <a:t>Fix: change settings.py default to 'gpt-4o-mini'  — or route this to Gemini 2.5 Flash to remove OpenAI dependency.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6459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6C63FF"/>
                </a:solidFill>
              </a:rPr>
              <a:t>MODEL COMPARISON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228600" y="457200"/>
            <a:ext cx="1170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Text Models — Chat · Plan Generation · Nutrition Plan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987552"/>
            <a:ext cx="11704320" cy="18288"/>
          </a:xfrm>
          <a:prstGeom prst="rect">
            <a:avLst/>
          </a:prstGeom>
          <a:solidFill>
            <a:srgbClr val="2A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188720"/>
            <a:ext cx="1965960" cy="384048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3464" y="120700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Model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286000" y="1188720"/>
            <a:ext cx="1234440" cy="384048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40864" y="120700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Provider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611880" y="1188720"/>
            <a:ext cx="1188720" cy="384048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66744" y="1207008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Input $/MTok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892040" y="1188720"/>
            <a:ext cx="1280160" cy="384048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46904" y="1207008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Output $/MTok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263640" y="1188720"/>
            <a:ext cx="960120" cy="384048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18504" y="120700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Context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315200" y="1188720"/>
            <a:ext cx="1234440" cy="384048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70064" y="120700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RPM (free tier)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641080" y="1188720"/>
            <a:ext cx="3337560" cy="384048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95944" y="120700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Best For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28600" y="1600200"/>
            <a:ext cx="1965960" cy="512064"/>
          </a:xfrm>
          <a:prstGeom prst="rect">
            <a:avLst/>
          </a:prstGeom>
          <a:solidFill>
            <a:srgbClr val="0D0D2A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3464" y="161848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C63FF"/>
                </a:solidFill>
              </a:rPr>
              <a:t>Gemini 2.5 Flash ★ CURRENT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286000" y="1600200"/>
            <a:ext cx="1234440" cy="512064"/>
          </a:xfrm>
          <a:prstGeom prst="rect">
            <a:avLst/>
          </a:prstGeom>
          <a:solidFill>
            <a:srgbClr val="0D0D2A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40864" y="161848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Google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611880" y="1600200"/>
            <a:ext cx="1188720" cy="512064"/>
          </a:xfrm>
          <a:prstGeom prst="rect">
            <a:avLst/>
          </a:prstGeom>
          <a:solidFill>
            <a:srgbClr val="0D0D2A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66744" y="1618488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C41A"/>
                </a:solidFill>
              </a:rPr>
              <a:t>$0.075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892040" y="1600200"/>
            <a:ext cx="1280160" cy="512064"/>
          </a:xfrm>
          <a:prstGeom prst="rect">
            <a:avLst/>
          </a:prstGeom>
          <a:solidFill>
            <a:srgbClr val="0D0D2A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46904" y="1618488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C41A"/>
                </a:solidFill>
              </a:rPr>
              <a:t>$0.30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263640" y="1600200"/>
            <a:ext cx="960120" cy="512064"/>
          </a:xfrm>
          <a:prstGeom prst="rect">
            <a:avLst/>
          </a:prstGeom>
          <a:solidFill>
            <a:srgbClr val="0D0D2A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18504" y="161848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1M tok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315200" y="1600200"/>
            <a:ext cx="1234440" cy="512064"/>
          </a:xfrm>
          <a:prstGeom prst="rect">
            <a:avLst/>
          </a:prstGeom>
          <a:solidFill>
            <a:srgbClr val="0D0D2A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70064" y="161848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15 RPM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8641080" y="1600200"/>
            <a:ext cx="3337560" cy="512064"/>
          </a:xfrm>
          <a:prstGeom prst="rect">
            <a:avLst/>
          </a:prstGeom>
          <a:solidFill>
            <a:srgbClr val="0D0D2A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95944" y="161848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Best value; thinking mode; vision built-in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46888" y="1874520"/>
            <a:ext cx="868680" cy="256032"/>
          </a:xfrm>
          <a:prstGeom prst="roundRect">
            <a:avLst>
              <a:gd name="adj" fmla="val 21429"/>
            </a:avLst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46888" y="1901952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 CURRENT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28600" y="2148840"/>
            <a:ext cx="1965960" cy="512064"/>
          </a:xfrm>
          <a:prstGeom prst="rect">
            <a:avLst/>
          </a:prstGeom>
          <a:solidFill>
            <a:srgbClr val="16213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83464" y="216712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Gemini 2.5 Pro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286000" y="2148840"/>
            <a:ext cx="1234440" cy="512064"/>
          </a:xfrm>
          <a:prstGeom prst="rect">
            <a:avLst/>
          </a:prstGeom>
          <a:solidFill>
            <a:srgbClr val="16213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40864" y="216712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Google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611880" y="2148840"/>
            <a:ext cx="1188720" cy="512064"/>
          </a:xfrm>
          <a:prstGeom prst="rect">
            <a:avLst/>
          </a:prstGeom>
          <a:solidFill>
            <a:srgbClr val="16213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66744" y="2167128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$1.25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892040" y="2148840"/>
            <a:ext cx="1280160" cy="512064"/>
          </a:xfrm>
          <a:prstGeom prst="rect">
            <a:avLst/>
          </a:prstGeom>
          <a:solidFill>
            <a:srgbClr val="16213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46904" y="2167128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$10.00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263640" y="2148840"/>
            <a:ext cx="960120" cy="512064"/>
          </a:xfrm>
          <a:prstGeom prst="rect">
            <a:avLst/>
          </a:prstGeom>
          <a:solidFill>
            <a:srgbClr val="16213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18504" y="216712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2M tok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7315200" y="2148840"/>
            <a:ext cx="1234440" cy="512064"/>
          </a:xfrm>
          <a:prstGeom prst="rect">
            <a:avLst/>
          </a:prstGeom>
          <a:solidFill>
            <a:srgbClr val="16213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370064" y="216712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2 RPM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8641080" y="2148840"/>
            <a:ext cx="3337560" cy="512064"/>
          </a:xfrm>
          <a:prstGeom prst="rect">
            <a:avLst/>
          </a:prstGeom>
          <a:solidFill>
            <a:srgbClr val="16213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695944" y="216712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Max reasoning — overkill for chat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28600" y="2697480"/>
            <a:ext cx="1965960" cy="512064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83464" y="27157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Gemini 2.0 Flash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2286000" y="2697480"/>
            <a:ext cx="1234440" cy="512064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340864" y="271576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Google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611880" y="2697480"/>
            <a:ext cx="1188720" cy="512064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66744" y="2715768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$0.10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892040" y="2697480"/>
            <a:ext cx="1280160" cy="512064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46904" y="2715768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$0.40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263640" y="2697480"/>
            <a:ext cx="960120" cy="512064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18504" y="271576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1M tok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7315200" y="2697480"/>
            <a:ext cx="1234440" cy="512064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370064" y="271576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15 RPM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8641080" y="2697480"/>
            <a:ext cx="3337560" cy="512064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695944" y="271576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Current fallback — solid backup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228600" y="3246120"/>
            <a:ext cx="1965960" cy="512064"/>
          </a:xfrm>
          <a:prstGeom prst="rect">
            <a:avLst/>
          </a:prstGeom>
          <a:solidFill>
            <a:srgbClr val="16213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83464" y="326440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GPT-4o mini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2286000" y="3246120"/>
            <a:ext cx="1234440" cy="512064"/>
          </a:xfrm>
          <a:prstGeom prst="rect">
            <a:avLst/>
          </a:prstGeom>
          <a:solidFill>
            <a:srgbClr val="16213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340864" y="326440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OpenAI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3611880" y="3246120"/>
            <a:ext cx="1188720" cy="512064"/>
          </a:xfrm>
          <a:prstGeom prst="rect">
            <a:avLst/>
          </a:prstGeom>
          <a:solidFill>
            <a:srgbClr val="16213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666744" y="3264408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$0.15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4892040" y="3246120"/>
            <a:ext cx="1280160" cy="512064"/>
          </a:xfrm>
          <a:prstGeom prst="rect">
            <a:avLst/>
          </a:prstGeom>
          <a:solidFill>
            <a:srgbClr val="16213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946904" y="3264408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$0.60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6263640" y="3246120"/>
            <a:ext cx="960120" cy="512064"/>
          </a:xfrm>
          <a:prstGeom prst="rect">
            <a:avLst/>
          </a:prstGeom>
          <a:solidFill>
            <a:srgbClr val="16213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318504" y="326440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128K tok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7315200" y="3246120"/>
            <a:ext cx="1234440" cy="512064"/>
          </a:xfrm>
          <a:prstGeom prst="rect">
            <a:avLst/>
          </a:prstGeom>
          <a:solidFill>
            <a:srgbClr val="16213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370064" y="326440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500 RPM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8641080" y="3246120"/>
            <a:ext cx="3337560" cy="512064"/>
          </a:xfrm>
          <a:prstGeom prst="rect">
            <a:avLst/>
          </a:prstGeom>
          <a:solidFill>
            <a:srgbClr val="16213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695944" y="326440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Higher rate limits; good quality; no vision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228600" y="3794760"/>
            <a:ext cx="1965960" cy="512064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83464" y="381304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GPT-4o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2286000" y="3794760"/>
            <a:ext cx="1234440" cy="512064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340864" y="381304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OpenAI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3611880" y="3794760"/>
            <a:ext cx="1188720" cy="512064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666744" y="3813048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$2.50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4892040" y="3794760"/>
            <a:ext cx="1280160" cy="512064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946904" y="3813048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$10.00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6263640" y="3794760"/>
            <a:ext cx="960120" cy="512064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318504" y="381304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128K tok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7315200" y="3794760"/>
            <a:ext cx="1234440" cy="512064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370064" y="381304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500 RPM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8641080" y="3794760"/>
            <a:ext cx="3337560" cy="512064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8695944" y="381304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Expensive — 33× vs Gemini 2.5 Flash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228600" y="4343400"/>
            <a:ext cx="1965960" cy="512064"/>
          </a:xfrm>
          <a:prstGeom prst="rect">
            <a:avLst/>
          </a:prstGeom>
          <a:solidFill>
            <a:srgbClr val="16213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283464" y="436168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Claude 3.5 Haiku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2286000" y="4343400"/>
            <a:ext cx="1234440" cy="512064"/>
          </a:xfrm>
          <a:prstGeom prst="rect">
            <a:avLst/>
          </a:prstGeom>
          <a:solidFill>
            <a:srgbClr val="16213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2340864" y="436168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Anthropic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3611880" y="4343400"/>
            <a:ext cx="1188720" cy="512064"/>
          </a:xfrm>
          <a:prstGeom prst="rect">
            <a:avLst/>
          </a:prstGeom>
          <a:solidFill>
            <a:srgbClr val="16213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3666744" y="4361688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$0.80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4892040" y="4343400"/>
            <a:ext cx="1280160" cy="512064"/>
          </a:xfrm>
          <a:prstGeom prst="rect">
            <a:avLst/>
          </a:prstGeom>
          <a:solidFill>
            <a:srgbClr val="16213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946904" y="4361688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$4.00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6263640" y="4343400"/>
            <a:ext cx="960120" cy="512064"/>
          </a:xfrm>
          <a:prstGeom prst="rect">
            <a:avLst/>
          </a:prstGeom>
          <a:solidFill>
            <a:srgbClr val="16213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318504" y="436168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200K tok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7315200" y="4343400"/>
            <a:ext cx="1234440" cy="512064"/>
          </a:xfrm>
          <a:prstGeom prst="rect">
            <a:avLst/>
          </a:prstGeom>
          <a:solidFill>
            <a:srgbClr val="16213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7370064" y="436168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50 RPM</a:t>
            </a:r>
            <a:endParaRPr lang="en-US" sz="800" dirty="0"/>
          </a:p>
        </p:txBody>
      </p:sp>
      <p:sp>
        <p:nvSpPr>
          <p:cNvPr id="104" name="Shape 102"/>
          <p:cNvSpPr/>
          <p:nvPr/>
        </p:nvSpPr>
        <p:spPr>
          <a:xfrm>
            <a:off x="8641080" y="4343400"/>
            <a:ext cx="3337560" cy="512064"/>
          </a:xfrm>
          <a:prstGeom prst="rect">
            <a:avLst/>
          </a:prstGeom>
          <a:solidFill>
            <a:srgbClr val="16213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8695944" y="436168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Best instruction following; pricier</a:t>
            </a:r>
            <a:endParaRPr lang="en-US" sz="800" dirty="0"/>
          </a:p>
        </p:txBody>
      </p:sp>
      <p:sp>
        <p:nvSpPr>
          <p:cNvPr id="106" name="Shape 104"/>
          <p:cNvSpPr/>
          <p:nvPr/>
        </p:nvSpPr>
        <p:spPr>
          <a:xfrm>
            <a:off x="228600" y="4892040"/>
            <a:ext cx="1965960" cy="512064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283464" y="491032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Llama 3.3 70B (Groq)</a:t>
            </a:r>
            <a:endParaRPr lang="en-US" sz="800" dirty="0"/>
          </a:p>
        </p:txBody>
      </p:sp>
      <p:sp>
        <p:nvSpPr>
          <p:cNvPr id="108" name="Shape 106"/>
          <p:cNvSpPr/>
          <p:nvPr/>
        </p:nvSpPr>
        <p:spPr>
          <a:xfrm>
            <a:off x="2286000" y="4892040"/>
            <a:ext cx="1234440" cy="512064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2340864" y="491032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Groq</a:t>
            </a:r>
            <a:endParaRPr lang="en-US" sz="800" dirty="0"/>
          </a:p>
        </p:txBody>
      </p:sp>
      <p:sp>
        <p:nvSpPr>
          <p:cNvPr id="110" name="Shape 108"/>
          <p:cNvSpPr/>
          <p:nvPr/>
        </p:nvSpPr>
        <p:spPr>
          <a:xfrm>
            <a:off x="3611880" y="4892040"/>
            <a:ext cx="1188720" cy="512064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3666744" y="4910328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$0.59</a:t>
            </a:r>
            <a:endParaRPr lang="en-US" sz="800" dirty="0"/>
          </a:p>
        </p:txBody>
      </p:sp>
      <p:sp>
        <p:nvSpPr>
          <p:cNvPr id="112" name="Shape 110"/>
          <p:cNvSpPr/>
          <p:nvPr/>
        </p:nvSpPr>
        <p:spPr>
          <a:xfrm>
            <a:off x="4892040" y="4892040"/>
            <a:ext cx="1280160" cy="512064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4946904" y="4910328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$0.79</a:t>
            </a:r>
            <a:endParaRPr lang="en-US" sz="800" dirty="0"/>
          </a:p>
        </p:txBody>
      </p:sp>
      <p:sp>
        <p:nvSpPr>
          <p:cNvPr id="114" name="Shape 112"/>
          <p:cNvSpPr/>
          <p:nvPr/>
        </p:nvSpPr>
        <p:spPr>
          <a:xfrm>
            <a:off x="6263640" y="4892040"/>
            <a:ext cx="960120" cy="512064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6318504" y="491032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128K tok</a:t>
            </a:r>
            <a:endParaRPr lang="en-US" sz="800" dirty="0"/>
          </a:p>
        </p:txBody>
      </p:sp>
      <p:sp>
        <p:nvSpPr>
          <p:cNvPr id="116" name="Shape 114"/>
          <p:cNvSpPr/>
          <p:nvPr/>
        </p:nvSpPr>
        <p:spPr>
          <a:xfrm>
            <a:off x="7315200" y="4892040"/>
            <a:ext cx="1234440" cy="512064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7370064" y="491032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30 RPM</a:t>
            </a:r>
            <a:endParaRPr lang="en-US" sz="800" dirty="0"/>
          </a:p>
        </p:txBody>
      </p:sp>
      <p:sp>
        <p:nvSpPr>
          <p:cNvPr id="118" name="Shape 116"/>
          <p:cNvSpPr/>
          <p:nvPr/>
        </p:nvSpPr>
        <p:spPr>
          <a:xfrm>
            <a:off x="8641080" y="4892040"/>
            <a:ext cx="3337560" cy="512064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8695944" y="491032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~800 tok/s speed; no vision; great fallback</a:t>
            </a:r>
            <a:endParaRPr lang="en-US" sz="800" dirty="0"/>
          </a:p>
        </p:txBody>
      </p:sp>
      <p:sp>
        <p:nvSpPr>
          <p:cNvPr id="120" name="Text 118"/>
          <p:cNvSpPr/>
          <p:nvPr/>
        </p:nvSpPr>
        <p:spPr>
          <a:xfrm>
            <a:off x="228600" y="6053328"/>
            <a:ext cx="1170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</a:rPr>
              <a:t>★  Recommendation: Keep Gemini 2.5 Flash as primary.  Add Groq Llama 3.3 70B as provider-level fallback for resilience.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6459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6C63FF"/>
                </a:solidFill>
              </a:rPr>
              <a:t>MODEL COMPARISON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228600" y="457200"/>
            <a:ext cx="1170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Vision Models — Food Scanner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987552"/>
            <a:ext cx="11704320" cy="18288"/>
          </a:xfrm>
          <a:prstGeom prst="rect">
            <a:avLst/>
          </a:prstGeom>
          <a:solidFill>
            <a:srgbClr val="2A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188720"/>
            <a:ext cx="1965960" cy="384048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3464" y="120700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Model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286000" y="1188720"/>
            <a:ext cx="1234440" cy="384048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40864" y="120700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Provider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611880" y="1188720"/>
            <a:ext cx="1234440" cy="384048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66744" y="120700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Input $/MTok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937760" y="1188720"/>
            <a:ext cx="777240" cy="384048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92624" y="1207008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Vision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806440" y="1188720"/>
            <a:ext cx="960120" cy="384048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61304" y="120700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Accuracy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858000" y="1188720"/>
            <a:ext cx="1783080" cy="384048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12864" y="120700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Cost / Scan (~500 tok)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732520" y="1188720"/>
            <a:ext cx="3429000" cy="384048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87384" y="120700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Notes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28600" y="1600200"/>
            <a:ext cx="1965960" cy="548640"/>
          </a:xfrm>
          <a:prstGeom prst="rect">
            <a:avLst/>
          </a:prstGeom>
          <a:solidFill>
            <a:srgbClr val="0D0D2A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3464" y="161848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C63FF"/>
                </a:solidFill>
              </a:rPr>
              <a:t>Gemini 2.5 Flash ★ CURRENT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286000" y="1600200"/>
            <a:ext cx="1234440" cy="548640"/>
          </a:xfrm>
          <a:prstGeom prst="rect">
            <a:avLst/>
          </a:prstGeom>
          <a:solidFill>
            <a:srgbClr val="0D0D2A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40864" y="1618488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Google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611880" y="1600200"/>
            <a:ext cx="1234440" cy="548640"/>
          </a:xfrm>
          <a:prstGeom prst="rect">
            <a:avLst/>
          </a:prstGeom>
          <a:solidFill>
            <a:srgbClr val="0D0D2A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66744" y="1618488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$0.075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937760" y="1600200"/>
            <a:ext cx="777240" cy="548640"/>
          </a:xfrm>
          <a:prstGeom prst="rect">
            <a:avLst/>
          </a:prstGeom>
          <a:solidFill>
            <a:srgbClr val="0D0D2A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1618488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C41A"/>
                </a:solidFill>
              </a:rPr>
              <a:t>✅ Native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806440" y="1600200"/>
            <a:ext cx="960120" cy="548640"/>
          </a:xfrm>
          <a:prstGeom prst="rect">
            <a:avLst/>
          </a:prstGeom>
          <a:solidFill>
            <a:srgbClr val="0D0D2A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61304" y="1618488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Excellent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858000" y="1600200"/>
            <a:ext cx="1783080" cy="548640"/>
          </a:xfrm>
          <a:prstGeom prst="rect">
            <a:avLst/>
          </a:prstGeom>
          <a:solidFill>
            <a:srgbClr val="0D0D2A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12864" y="1618488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~$0.0001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8732520" y="1600200"/>
            <a:ext cx="3429000" cy="548640"/>
          </a:xfrm>
          <a:prstGeom prst="rect">
            <a:avLst/>
          </a:prstGeom>
          <a:solidFill>
            <a:srgbClr val="0D0D2A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87384" y="161848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Best vision quality per $; multimodal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28600" y="2194560"/>
            <a:ext cx="1965960" cy="548640"/>
          </a:xfrm>
          <a:prstGeom prst="rect">
            <a:avLst/>
          </a:prstGeom>
          <a:solidFill>
            <a:srgbClr val="16213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83464" y="221284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GPT-4o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286000" y="2194560"/>
            <a:ext cx="1234440" cy="548640"/>
          </a:xfrm>
          <a:prstGeom prst="rect">
            <a:avLst/>
          </a:prstGeom>
          <a:solidFill>
            <a:srgbClr val="16213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340864" y="2212848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OpenAI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611880" y="2194560"/>
            <a:ext cx="1234440" cy="548640"/>
          </a:xfrm>
          <a:prstGeom prst="rect">
            <a:avLst/>
          </a:prstGeom>
          <a:solidFill>
            <a:srgbClr val="16213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66744" y="2212848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$2.50 + $0.00765/img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937760" y="2194560"/>
            <a:ext cx="777240" cy="548640"/>
          </a:xfrm>
          <a:prstGeom prst="rect">
            <a:avLst/>
          </a:prstGeom>
          <a:solidFill>
            <a:srgbClr val="16213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92624" y="2212848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C41A"/>
                </a:solidFill>
              </a:rPr>
              <a:t>✅ Native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806440" y="2194560"/>
            <a:ext cx="960120" cy="548640"/>
          </a:xfrm>
          <a:prstGeom prst="rect">
            <a:avLst/>
          </a:prstGeom>
          <a:solidFill>
            <a:srgbClr val="16213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61304" y="2212848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Excellent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858000" y="2194560"/>
            <a:ext cx="1783080" cy="548640"/>
          </a:xfrm>
          <a:prstGeom prst="rect">
            <a:avLst/>
          </a:prstGeom>
          <a:solidFill>
            <a:srgbClr val="16213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12864" y="2212848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~$0.008+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8732520" y="2194560"/>
            <a:ext cx="3429000" cy="548640"/>
          </a:xfrm>
          <a:prstGeom prst="rect">
            <a:avLst/>
          </a:prstGeom>
          <a:solidFill>
            <a:srgbClr val="16213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787384" y="221284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80× more expensive — same quality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228600" y="2788920"/>
            <a:ext cx="1965960" cy="548640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83464" y="280720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Claude 3.5 Sonnet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286000" y="2788920"/>
            <a:ext cx="1234440" cy="548640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340864" y="2807208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Anthropic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3611880" y="2788920"/>
            <a:ext cx="1234440" cy="548640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66744" y="2807208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$3.00 + image fee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937760" y="2788920"/>
            <a:ext cx="777240" cy="548640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992624" y="2807208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C41A"/>
                </a:solidFill>
              </a:rPr>
              <a:t>✅ Native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806440" y="2788920"/>
            <a:ext cx="960120" cy="548640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861304" y="2807208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Excellent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858000" y="2788920"/>
            <a:ext cx="1783080" cy="548640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912864" y="2807208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~$0.012+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8732520" y="2788920"/>
            <a:ext cx="3429000" cy="548640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787384" y="280720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High quality; highest cost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228600" y="3383280"/>
            <a:ext cx="1965960" cy="548640"/>
          </a:xfrm>
          <a:prstGeom prst="rect">
            <a:avLst/>
          </a:prstGeom>
          <a:solidFill>
            <a:srgbClr val="16213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83464" y="340156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Claude 3.5 Haiku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2286000" y="3383280"/>
            <a:ext cx="1234440" cy="548640"/>
          </a:xfrm>
          <a:prstGeom prst="rect">
            <a:avLst/>
          </a:prstGeom>
          <a:solidFill>
            <a:srgbClr val="16213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340864" y="3401568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Anthropic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3611880" y="3383280"/>
            <a:ext cx="1234440" cy="548640"/>
          </a:xfrm>
          <a:prstGeom prst="rect">
            <a:avLst/>
          </a:prstGeom>
          <a:solidFill>
            <a:srgbClr val="16213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666744" y="3401568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$0.80 + image fee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4937760" y="3383280"/>
            <a:ext cx="777240" cy="548640"/>
          </a:xfrm>
          <a:prstGeom prst="rect">
            <a:avLst/>
          </a:prstGeom>
          <a:solidFill>
            <a:srgbClr val="16213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992624" y="3401568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C41A"/>
                </a:solidFill>
              </a:rPr>
              <a:t>✅ Native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5806440" y="3383280"/>
            <a:ext cx="960120" cy="548640"/>
          </a:xfrm>
          <a:prstGeom prst="rect">
            <a:avLst/>
          </a:prstGeom>
          <a:solidFill>
            <a:srgbClr val="16213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861304" y="3401568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Good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6858000" y="3383280"/>
            <a:ext cx="1783080" cy="548640"/>
          </a:xfrm>
          <a:prstGeom prst="rect">
            <a:avLst/>
          </a:prstGeom>
          <a:solidFill>
            <a:srgbClr val="16213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912864" y="3401568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~$0.003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8732520" y="3383280"/>
            <a:ext cx="3429000" cy="548640"/>
          </a:xfrm>
          <a:prstGeom prst="rect">
            <a:avLst/>
          </a:prstGeom>
          <a:solidFill>
            <a:srgbClr val="16213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787384" y="340156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30× more than Gemini; decent accuracy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228600" y="3977640"/>
            <a:ext cx="1965960" cy="548640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83464" y="399592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Llama 3.2 Vision (Groq)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2286000" y="3977640"/>
            <a:ext cx="1234440" cy="548640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340864" y="3995928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Groq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3611880" y="3977640"/>
            <a:ext cx="1234440" cy="548640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666744" y="3995928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$0.11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4937760" y="3977640"/>
            <a:ext cx="777240" cy="548640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992624" y="3995928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AAD14"/>
                </a:solidFill>
              </a:rPr>
              <a:t>⚠️ Limited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5806440" y="3977640"/>
            <a:ext cx="960120" cy="548640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861304" y="3995928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Decent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6858000" y="3977640"/>
            <a:ext cx="1783080" cy="548640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912864" y="3995928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~$0.0002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8732520" y="3977640"/>
            <a:ext cx="3429000" cy="548640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8787384" y="399592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Fast &amp; cheap; lower food ID accuracy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228600" y="4937760"/>
            <a:ext cx="11704320" cy="1554480"/>
          </a:xfrm>
          <a:prstGeom prst="roundRect">
            <a:avLst>
              <a:gd name="adj" fmla="val 4706"/>
            </a:avLst>
          </a:prstGeom>
          <a:solidFill>
            <a:srgbClr val="001A0A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228600" y="4937760"/>
            <a:ext cx="64008" cy="1554480"/>
          </a:xfrm>
          <a:prstGeom prst="rect">
            <a:avLst/>
          </a:prstGeom>
          <a:solidFill>
            <a:srgbClr val="52C4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11480" y="5029200"/>
            <a:ext cx="11338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2C41A"/>
                </a:solidFill>
              </a:rPr>
              <a:t>★  Recommendation: Keep Gemini 2.5 Flash for Food Scanner</a:t>
            </a:r>
            <a:endParaRPr lang="en-US" sz="1300" dirty="0"/>
          </a:p>
        </p:txBody>
      </p:sp>
      <p:sp>
        <p:nvSpPr>
          <p:cNvPr id="93" name="Text 91"/>
          <p:cNvSpPr/>
          <p:nvPr/>
        </p:nvSpPr>
        <p:spPr>
          <a:xfrm>
            <a:off x="411480" y="5376672"/>
            <a:ext cx="11338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</a:rPr>
              <a:t>It is ~80× cheaper than GPT-4o Vision with equivalent food recognition accuracy. The fallback to gemini-2.0-flash is already in place.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</a:rPr>
              <a:t>Only revisit if you see consistent accuracy issues on obscure foods — then try Claude 3.5 Haiku as a quality upgrade at ~30× cost.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6459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6C63FF"/>
                </a:solidFill>
              </a:rPr>
              <a:t>MODEL COMPARISON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228600" y="457200"/>
            <a:ext cx="1170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Image Generation Models — Meal Images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987552"/>
            <a:ext cx="11704320" cy="18288"/>
          </a:xfrm>
          <a:prstGeom prst="rect">
            <a:avLst/>
          </a:prstGeom>
          <a:solidFill>
            <a:srgbClr val="2A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188720"/>
            <a:ext cx="2148840" cy="384048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3464" y="120700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Model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468880" y="1188720"/>
            <a:ext cx="1417320" cy="384048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23744" y="120700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Provider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977640" y="1188720"/>
            <a:ext cx="1783080" cy="384048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32504" y="120700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Price / 1024×1024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852160" y="1188720"/>
            <a:ext cx="1051560" cy="384048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07024" y="120700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Quality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995160" y="1188720"/>
            <a:ext cx="1783080" cy="384048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50024" y="120700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API Availability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869680" y="1188720"/>
            <a:ext cx="3429000" cy="384048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24544" y="120700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Notes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28600" y="1600200"/>
            <a:ext cx="2148840" cy="457200"/>
          </a:xfrm>
          <a:prstGeom prst="rect">
            <a:avLst/>
          </a:prstGeom>
          <a:solidFill>
            <a:srgbClr val="0D0D2A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3464" y="1618488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C63FF"/>
                </a:solidFill>
              </a:rPr>
              <a:t>DALL-E 3 standard ★ CURRENT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468880" y="1600200"/>
            <a:ext cx="1417320" cy="457200"/>
          </a:xfrm>
          <a:prstGeom prst="rect">
            <a:avLst/>
          </a:prstGeom>
          <a:solidFill>
            <a:srgbClr val="0D0D2A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23744" y="1618488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CCCCC"/>
                </a:solidFill>
              </a:rPr>
              <a:t>OpenAI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977640" y="1600200"/>
            <a:ext cx="1783080" cy="457200"/>
          </a:xfrm>
          <a:prstGeom prst="rect">
            <a:avLst/>
          </a:prstGeom>
          <a:solidFill>
            <a:srgbClr val="0D0D2A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32504" y="1618488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CCCCC"/>
                </a:solidFill>
              </a:rPr>
              <a:t>$0.040 / image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852160" y="1600200"/>
            <a:ext cx="1051560" cy="457200"/>
          </a:xfrm>
          <a:prstGeom prst="rect">
            <a:avLst/>
          </a:prstGeom>
          <a:solidFill>
            <a:srgbClr val="0D0D2A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07024" y="1618488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CCCCC"/>
                </a:solidFill>
              </a:rPr>
              <a:t>Best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6995160" y="1600200"/>
            <a:ext cx="1783080" cy="457200"/>
          </a:xfrm>
          <a:prstGeom prst="rect">
            <a:avLst/>
          </a:prstGeom>
          <a:solidFill>
            <a:srgbClr val="0D0D2A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50024" y="1618488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C41A"/>
                </a:solidFill>
              </a:rPr>
              <a:t>✅ Stable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8869680" y="1600200"/>
            <a:ext cx="3429000" cy="457200"/>
          </a:xfrm>
          <a:prstGeom prst="rect">
            <a:avLst/>
          </a:prstGeom>
          <a:solidFill>
            <a:srgbClr val="0D0D2A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24544" y="1618488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CCCCC"/>
                </a:solidFill>
              </a:rPr>
              <a:t>Best prompt adherence; reliable quality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28600" y="2103120"/>
            <a:ext cx="2148840" cy="457200"/>
          </a:xfrm>
          <a:prstGeom prst="rect">
            <a:avLst/>
          </a:prstGeom>
          <a:solidFill>
            <a:srgbClr val="16213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3464" y="2121408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CCCCC"/>
                </a:solidFill>
              </a:rPr>
              <a:t>DALL-E 3 HD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468880" y="2103120"/>
            <a:ext cx="1417320" cy="457200"/>
          </a:xfrm>
          <a:prstGeom prst="rect">
            <a:avLst/>
          </a:prstGeom>
          <a:solidFill>
            <a:srgbClr val="16213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23744" y="2121408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CCCCC"/>
                </a:solidFill>
              </a:rPr>
              <a:t>OpenAI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977640" y="2103120"/>
            <a:ext cx="1783080" cy="457200"/>
          </a:xfrm>
          <a:prstGeom prst="rect">
            <a:avLst/>
          </a:prstGeom>
          <a:solidFill>
            <a:srgbClr val="16213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32504" y="2121408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CCCCC"/>
                </a:solidFill>
              </a:rPr>
              <a:t>$0.080 / image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5852160" y="2103120"/>
            <a:ext cx="1051560" cy="457200"/>
          </a:xfrm>
          <a:prstGeom prst="rect">
            <a:avLst/>
          </a:prstGeom>
          <a:solidFill>
            <a:srgbClr val="16213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07024" y="2121408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CCCCC"/>
                </a:solidFill>
              </a:rPr>
              <a:t>Best+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6995160" y="2103120"/>
            <a:ext cx="1783080" cy="457200"/>
          </a:xfrm>
          <a:prstGeom prst="rect">
            <a:avLst/>
          </a:prstGeom>
          <a:solidFill>
            <a:srgbClr val="16213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50024" y="2121408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C41A"/>
                </a:solidFill>
              </a:rPr>
              <a:t>✅ Stable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8869680" y="2103120"/>
            <a:ext cx="3429000" cy="457200"/>
          </a:xfrm>
          <a:prstGeom prst="rect">
            <a:avLst/>
          </a:prstGeom>
          <a:solidFill>
            <a:srgbClr val="16213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924544" y="2121408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CCCCC"/>
                </a:solidFill>
              </a:rPr>
              <a:t>2× price — overkill for app thumbnails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228600" y="2606040"/>
            <a:ext cx="2148840" cy="457200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83464" y="2624328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CCCCC"/>
                </a:solidFill>
              </a:rPr>
              <a:t>DALL-E 2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2468880" y="2606040"/>
            <a:ext cx="1417320" cy="457200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23744" y="2624328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CCCCC"/>
                </a:solidFill>
              </a:rPr>
              <a:t>OpenAI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3977640" y="2606040"/>
            <a:ext cx="1783080" cy="457200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032504" y="2624328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CCCCC"/>
                </a:solidFill>
              </a:rPr>
              <a:t>$0.020 / image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5852160" y="2606040"/>
            <a:ext cx="1051560" cy="457200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907024" y="2624328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CCCCC"/>
                </a:solidFill>
              </a:rPr>
              <a:t>Good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6995160" y="2606040"/>
            <a:ext cx="1783080" cy="457200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050024" y="2624328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C41A"/>
                </a:solidFill>
              </a:rPr>
              <a:t>✅ Stable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8869680" y="2606040"/>
            <a:ext cx="3429000" cy="457200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924544" y="2624328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CCCCC"/>
                </a:solidFill>
              </a:rPr>
              <a:t>50% cheaper; visibly lower quality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228600" y="3108960"/>
            <a:ext cx="2148840" cy="457200"/>
          </a:xfrm>
          <a:prstGeom prst="rect">
            <a:avLst/>
          </a:prstGeom>
          <a:solidFill>
            <a:srgbClr val="16213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83464" y="3127248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CCCCC"/>
                </a:solidFill>
              </a:rPr>
              <a:t>Flux.1 Dev (Replicate)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2468880" y="3108960"/>
            <a:ext cx="1417320" cy="457200"/>
          </a:xfrm>
          <a:prstGeom prst="rect">
            <a:avLst/>
          </a:prstGeom>
          <a:solidFill>
            <a:srgbClr val="16213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523744" y="3127248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CCCCC"/>
                </a:solidFill>
              </a:rPr>
              <a:t>Replicate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3977640" y="3108960"/>
            <a:ext cx="1783080" cy="457200"/>
          </a:xfrm>
          <a:prstGeom prst="rect">
            <a:avLst/>
          </a:prstGeom>
          <a:solidFill>
            <a:srgbClr val="16213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032504" y="3127248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CCCCC"/>
                </a:solidFill>
              </a:rPr>
              <a:t>~$0.025 / image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5852160" y="3108960"/>
            <a:ext cx="1051560" cy="457200"/>
          </a:xfrm>
          <a:prstGeom prst="rect">
            <a:avLst/>
          </a:prstGeom>
          <a:solidFill>
            <a:srgbClr val="16213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907024" y="3127248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CCCCC"/>
                </a:solidFill>
              </a:rPr>
              <a:t>Excellent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6995160" y="3108960"/>
            <a:ext cx="1783080" cy="457200"/>
          </a:xfrm>
          <a:prstGeom prst="rect">
            <a:avLst/>
          </a:prstGeom>
          <a:solidFill>
            <a:srgbClr val="16213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050024" y="3127248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C41A"/>
                </a:solidFill>
              </a:rPr>
              <a:t>✅ Stable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8869680" y="3108960"/>
            <a:ext cx="3429000" cy="457200"/>
          </a:xfrm>
          <a:prstGeom prst="rect">
            <a:avLst/>
          </a:prstGeom>
          <a:solidFill>
            <a:srgbClr val="16213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924544" y="3127248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CCCCC"/>
                </a:solidFill>
              </a:rPr>
              <a:t>Near DALL-E 3 quality at 38% of cost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228600" y="3611880"/>
            <a:ext cx="2148840" cy="457200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83464" y="3630168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CCCCC"/>
                </a:solidFill>
              </a:rPr>
              <a:t>Flux.1 Schnell (Replicate)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2468880" y="3611880"/>
            <a:ext cx="1417320" cy="457200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523744" y="3630168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CCCCC"/>
                </a:solidFill>
              </a:rPr>
              <a:t>Replicate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3977640" y="3611880"/>
            <a:ext cx="1783080" cy="457200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032504" y="3630168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CCCCC"/>
                </a:solidFill>
              </a:rPr>
              <a:t>~$0.003 / image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5852160" y="3611880"/>
            <a:ext cx="1051560" cy="457200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907024" y="3630168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CCCCC"/>
                </a:solidFill>
              </a:rPr>
              <a:t>Very Good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6995160" y="3611880"/>
            <a:ext cx="1783080" cy="457200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050024" y="3630168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C41A"/>
                </a:solidFill>
              </a:rPr>
              <a:t>✅ Stable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8869680" y="3611880"/>
            <a:ext cx="3429000" cy="457200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924544" y="3630168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CCCCC"/>
                </a:solidFill>
              </a:rPr>
              <a:t>Fastest &amp; cheapest; 13× cheaper than DALL-E 3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228600" y="4114800"/>
            <a:ext cx="2148840" cy="457200"/>
          </a:xfrm>
          <a:prstGeom prst="rect">
            <a:avLst/>
          </a:prstGeom>
          <a:solidFill>
            <a:srgbClr val="16213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83464" y="4133088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CCCCC"/>
                </a:solidFill>
              </a:rPr>
              <a:t>Stability AI SDXL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2468880" y="4114800"/>
            <a:ext cx="1417320" cy="457200"/>
          </a:xfrm>
          <a:prstGeom prst="rect">
            <a:avLst/>
          </a:prstGeom>
          <a:solidFill>
            <a:srgbClr val="16213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523744" y="4133088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CCCCC"/>
                </a:solidFill>
              </a:rPr>
              <a:t>Stability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3977640" y="4114800"/>
            <a:ext cx="1783080" cy="457200"/>
          </a:xfrm>
          <a:prstGeom prst="rect">
            <a:avLst/>
          </a:prstGeom>
          <a:solidFill>
            <a:srgbClr val="16213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032504" y="4133088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CCCCC"/>
                </a:solidFill>
              </a:rPr>
              <a:t>$0.002–$0.006 / image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5852160" y="4114800"/>
            <a:ext cx="1051560" cy="457200"/>
          </a:xfrm>
          <a:prstGeom prst="rect">
            <a:avLst/>
          </a:prstGeom>
          <a:solidFill>
            <a:srgbClr val="16213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907024" y="4133088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CCCCC"/>
                </a:solidFill>
              </a:rPr>
              <a:t>Good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6995160" y="4114800"/>
            <a:ext cx="1783080" cy="457200"/>
          </a:xfrm>
          <a:prstGeom prst="rect">
            <a:avLst/>
          </a:prstGeom>
          <a:solidFill>
            <a:srgbClr val="16213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050024" y="4133088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C41A"/>
                </a:solidFill>
              </a:rPr>
              <a:t>✅ Stable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8869680" y="4114800"/>
            <a:ext cx="3429000" cy="457200"/>
          </a:xfrm>
          <a:prstGeom prst="rect">
            <a:avLst/>
          </a:prstGeom>
          <a:solidFill>
            <a:srgbClr val="16213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8924544" y="4133088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CCCCC"/>
                </a:solidFill>
              </a:rPr>
              <a:t>7–20× cheaper; needs prompt tuning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228600" y="4617720"/>
            <a:ext cx="2148840" cy="457200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283464" y="4636008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CCCCC"/>
                </a:solidFill>
              </a:rPr>
              <a:t>Google Imagen 3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2468880" y="4617720"/>
            <a:ext cx="1417320" cy="457200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2523744" y="4636008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CCCCC"/>
                </a:solidFill>
              </a:rPr>
              <a:t>Google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3977640" y="4617720"/>
            <a:ext cx="1783080" cy="457200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032504" y="4636008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CCCCC"/>
                </a:solidFill>
              </a:rPr>
              <a:t>Not public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5852160" y="4617720"/>
            <a:ext cx="1051560" cy="457200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907024" y="4636008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CCCCC"/>
                </a:solidFill>
              </a:rPr>
              <a:t>—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6995160" y="4617720"/>
            <a:ext cx="1783080" cy="457200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050024" y="4636008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AAD14"/>
                </a:solidFill>
              </a:rPr>
              <a:t>⏳ Waitlist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8869680" y="4617720"/>
            <a:ext cx="3429000" cy="457200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8924544" y="4636008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CCCCC"/>
                </a:solidFill>
              </a:rPr>
              <a:t>High potential — not yet accessible</a:t>
            </a:r>
            <a:endParaRPr lang="en-US" sz="750" dirty="0"/>
          </a:p>
        </p:txBody>
      </p:sp>
      <p:sp>
        <p:nvSpPr>
          <p:cNvPr id="102" name="Shape 100"/>
          <p:cNvSpPr/>
          <p:nvPr/>
        </p:nvSpPr>
        <p:spPr>
          <a:xfrm>
            <a:off x="228600" y="5257800"/>
            <a:ext cx="11704320" cy="1325880"/>
          </a:xfrm>
          <a:prstGeom prst="roundRect">
            <a:avLst>
              <a:gd name="adj" fmla="val 5517"/>
            </a:avLst>
          </a:prstGeom>
          <a:solidFill>
            <a:srgbClr val="0A0A1A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28600" y="5257800"/>
            <a:ext cx="64008" cy="1325880"/>
          </a:xfrm>
          <a:prstGeom prst="rect">
            <a:avLst/>
          </a:prstGeom>
          <a:solidFill>
            <a:srgbClr val="00C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411480" y="5349240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</a:rPr>
              <a:t>★  Recommendation</a:t>
            </a:r>
            <a:endParaRPr lang="en-US" sz="1200" dirty="0"/>
          </a:p>
        </p:txBody>
      </p:sp>
      <p:sp>
        <p:nvSpPr>
          <p:cNvPr id="105" name="Text 103"/>
          <p:cNvSpPr/>
          <p:nvPr/>
        </p:nvSpPr>
        <p:spPr>
          <a:xfrm>
            <a:off x="411480" y="5650992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DALL-E 3 is fine if image volume is low (images are generated once and cached per meal plan).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If cost becomes a concern at scale → Flux.1 Dev on Replicate gives near-identical food photography quality at 38% of the price.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For maximum savings → Flux.1 Schnell at $0.003/image (13× cheaper, still very good for food thumbnails).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6459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6C63FF"/>
                </a:solidFill>
              </a:rPr>
              <a:t>MODEL COMPARISON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228600" y="457200"/>
            <a:ext cx="1170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Short Text Models — Ritual Motivational Messages (80 chars)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987552"/>
            <a:ext cx="11704320" cy="18288"/>
          </a:xfrm>
          <a:prstGeom prst="rect">
            <a:avLst/>
          </a:prstGeom>
          <a:solidFill>
            <a:srgbClr val="2A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188720"/>
            <a:ext cx="1965960" cy="384048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3464" y="120700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Model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286000" y="1188720"/>
            <a:ext cx="1188720" cy="384048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40864" y="1207008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Provider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566160" y="1188720"/>
            <a:ext cx="1188720" cy="384048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21024" y="1207008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Input $/MTok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846320" y="1188720"/>
            <a:ext cx="1280160" cy="384048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01184" y="1207008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Output $/MTok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217920" y="1188720"/>
            <a:ext cx="1280160" cy="384048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72784" y="1207008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Cost / Message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589520" y="1188720"/>
            <a:ext cx="868680" cy="384048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44384" y="1207008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Speed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549640" y="1188720"/>
            <a:ext cx="3337560" cy="384048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04504" y="120700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Notes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28600" y="1600200"/>
            <a:ext cx="1965960" cy="521208"/>
          </a:xfrm>
          <a:prstGeom prst="rect">
            <a:avLst/>
          </a:prstGeom>
          <a:solidFill>
            <a:srgbClr val="1A0000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3464" y="161848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4D4F"/>
                </a:solidFill>
              </a:rPr>
              <a:t>GPT-4o  ⚠️  CURRENT (wrong)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286000" y="1600200"/>
            <a:ext cx="1188720" cy="521208"/>
          </a:xfrm>
          <a:prstGeom prst="rect">
            <a:avLst/>
          </a:prstGeom>
          <a:solidFill>
            <a:srgbClr val="1A0000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40864" y="1618488"/>
            <a:ext cx="1143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OpenAI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566160" y="1600200"/>
            <a:ext cx="1188720" cy="521208"/>
          </a:xfrm>
          <a:prstGeom prst="rect">
            <a:avLst/>
          </a:prstGeom>
          <a:solidFill>
            <a:srgbClr val="1A0000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21024" y="1618488"/>
            <a:ext cx="1143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$2.50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846320" y="1600200"/>
            <a:ext cx="1280160" cy="521208"/>
          </a:xfrm>
          <a:prstGeom prst="rect">
            <a:avLst/>
          </a:prstGeom>
          <a:solidFill>
            <a:srgbClr val="1A0000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01184" y="1618488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$10.00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217920" y="1600200"/>
            <a:ext cx="1280160" cy="521208"/>
          </a:xfrm>
          <a:prstGeom prst="rect">
            <a:avLst/>
          </a:prstGeom>
          <a:solidFill>
            <a:srgbClr val="1A0000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72784" y="1618488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~$0.0008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589520" y="1600200"/>
            <a:ext cx="868680" cy="521208"/>
          </a:xfrm>
          <a:prstGeom prst="rect">
            <a:avLst/>
          </a:prstGeom>
          <a:solidFill>
            <a:srgbClr val="1A0000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44384" y="1618488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Fast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8549640" y="1600200"/>
            <a:ext cx="3337560" cy="521208"/>
          </a:xfrm>
          <a:prstGeom prst="rect">
            <a:avLst/>
          </a:prstGeom>
          <a:solidFill>
            <a:srgbClr val="1A0000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04504" y="1618488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WAY overkill — 16× overspend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28600" y="2167128"/>
            <a:ext cx="1965960" cy="521208"/>
          </a:xfrm>
          <a:prstGeom prst="rect">
            <a:avLst/>
          </a:prstGeom>
          <a:solidFill>
            <a:srgbClr val="0A1400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83464" y="2185416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2C41A"/>
                </a:solidFill>
              </a:rPr>
              <a:t>GPT-4o mini  ← INTENDED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286000" y="2167128"/>
            <a:ext cx="1188720" cy="521208"/>
          </a:xfrm>
          <a:prstGeom prst="rect">
            <a:avLst/>
          </a:prstGeom>
          <a:solidFill>
            <a:srgbClr val="0A1400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340864" y="2185416"/>
            <a:ext cx="1143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OpenAI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566160" y="2167128"/>
            <a:ext cx="1188720" cy="521208"/>
          </a:xfrm>
          <a:prstGeom prst="rect">
            <a:avLst/>
          </a:prstGeom>
          <a:solidFill>
            <a:srgbClr val="0A1400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21024" y="2185416"/>
            <a:ext cx="1143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$0.15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846320" y="2167128"/>
            <a:ext cx="1280160" cy="521208"/>
          </a:xfrm>
          <a:prstGeom prst="rect">
            <a:avLst/>
          </a:prstGeom>
          <a:solidFill>
            <a:srgbClr val="0A1400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01184" y="2185416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$0.60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217920" y="2167128"/>
            <a:ext cx="1280160" cy="521208"/>
          </a:xfrm>
          <a:prstGeom prst="rect">
            <a:avLst/>
          </a:prstGeom>
          <a:solidFill>
            <a:srgbClr val="0A1400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72784" y="2185416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~$0.00005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589520" y="2167128"/>
            <a:ext cx="868680" cy="521208"/>
          </a:xfrm>
          <a:prstGeom prst="rect">
            <a:avLst/>
          </a:prstGeom>
          <a:solidFill>
            <a:srgbClr val="0A1400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44384" y="2185416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Fast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8549640" y="2167128"/>
            <a:ext cx="3337560" cy="521208"/>
          </a:xfrm>
          <a:prstGeom prst="rect">
            <a:avLst/>
          </a:prstGeom>
          <a:solidFill>
            <a:srgbClr val="0A1400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604504" y="2185416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Quick fix — same quality for short text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228600" y="2734056"/>
            <a:ext cx="1965960" cy="521208"/>
          </a:xfrm>
          <a:prstGeom prst="rect">
            <a:avLst/>
          </a:prstGeom>
          <a:solidFill>
            <a:srgbClr val="0D0D2A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83464" y="2752344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C63FF"/>
                </a:solidFill>
              </a:rPr>
              <a:t>Gemini 2.5 Flash ★ BEST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286000" y="2734056"/>
            <a:ext cx="1188720" cy="521208"/>
          </a:xfrm>
          <a:prstGeom prst="rect">
            <a:avLst/>
          </a:prstGeom>
          <a:solidFill>
            <a:srgbClr val="0D0D2A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340864" y="2752344"/>
            <a:ext cx="1143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Google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3566160" y="2734056"/>
            <a:ext cx="1188720" cy="521208"/>
          </a:xfrm>
          <a:prstGeom prst="rect">
            <a:avLst/>
          </a:prstGeom>
          <a:solidFill>
            <a:srgbClr val="0D0D2A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21024" y="2752344"/>
            <a:ext cx="1143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$0.075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846320" y="2734056"/>
            <a:ext cx="1280160" cy="521208"/>
          </a:xfrm>
          <a:prstGeom prst="rect">
            <a:avLst/>
          </a:prstGeom>
          <a:solidFill>
            <a:srgbClr val="0D0D2A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901184" y="2752344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$0.30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6217920" y="2734056"/>
            <a:ext cx="1280160" cy="521208"/>
          </a:xfrm>
          <a:prstGeom prst="rect">
            <a:avLst/>
          </a:prstGeom>
          <a:solidFill>
            <a:srgbClr val="0D0D2A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272784" y="2752344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~$0.00002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7589520" y="2734056"/>
            <a:ext cx="868680" cy="521208"/>
          </a:xfrm>
          <a:prstGeom prst="rect">
            <a:avLst/>
          </a:prstGeom>
          <a:solidFill>
            <a:srgbClr val="0D0D2A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644384" y="2752344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Fast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8549640" y="2734056"/>
            <a:ext cx="3337560" cy="521208"/>
          </a:xfrm>
          <a:prstGeom prst="rect">
            <a:avLst/>
          </a:prstGeom>
          <a:solidFill>
            <a:srgbClr val="0D0D2A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604504" y="2752344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Consolidate providers — cheapest option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228600" y="3300984"/>
            <a:ext cx="1965960" cy="521208"/>
          </a:xfrm>
          <a:prstGeom prst="rect">
            <a:avLst/>
          </a:prstGeom>
          <a:solidFill>
            <a:srgbClr val="16213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83464" y="3319272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CCCCC"/>
                </a:solidFill>
              </a:rPr>
              <a:t>Groq Llama 3.1 8B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2286000" y="3300984"/>
            <a:ext cx="1188720" cy="521208"/>
          </a:xfrm>
          <a:prstGeom prst="rect">
            <a:avLst/>
          </a:prstGeom>
          <a:solidFill>
            <a:srgbClr val="16213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340864" y="3319272"/>
            <a:ext cx="1143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Groq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3566160" y="3300984"/>
            <a:ext cx="1188720" cy="521208"/>
          </a:xfrm>
          <a:prstGeom prst="rect">
            <a:avLst/>
          </a:prstGeom>
          <a:solidFill>
            <a:srgbClr val="16213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621024" y="3319272"/>
            <a:ext cx="1143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$0.05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4846320" y="3300984"/>
            <a:ext cx="1280160" cy="521208"/>
          </a:xfrm>
          <a:prstGeom prst="rect">
            <a:avLst/>
          </a:prstGeom>
          <a:solidFill>
            <a:srgbClr val="16213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901184" y="3319272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$0.08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6217920" y="3300984"/>
            <a:ext cx="1280160" cy="521208"/>
          </a:xfrm>
          <a:prstGeom prst="rect">
            <a:avLst/>
          </a:prstGeom>
          <a:solidFill>
            <a:srgbClr val="16213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272784" y="3319272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~$0.000015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7589520" y="3300984"/>
            <a:ext cx="868680" cy="521208"/>
          </a:xfrm>
          <a:prstGeom prst="rect">
            <a:avLst/>
          </a:prstGeom>
          <a:solidFill>
            <a:srgbClr val="16213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644384" y="3319272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Fastest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8549640" y="3300984"/>
            <a:ext cx="3337560" cy="521208"/>
          </a:xfrm>
          <a:prstGeom prst="rect">
            <a:avLst/>
          </a:prstGeom>
          <a:solidFill>
            <a:srgbClr val="16213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604504" y="3319272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Ultra-cheap; slightly less polished tone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228600" y="3867912"/>
            <a:ext cx="1965960" cy="521208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83464" y="388620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CCCCC"/>
                </a:solidFill>
              </a:rPr>
              <a:t>Claude 3.5 Haiku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2286000" y="3867912"/>
            <a:ext cx="1188720" cy="521208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340864" y="3886200"/>
            <a:ext cx="1143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Anthropic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3566160" y="3867912"/>
            <a:ext cx="1188720" cy="521208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621024" y="3886200"/>
            <a:ext cx="1143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$0.80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4846320" y="3867912"/>
            <a:ext cx="1280160" cy="521208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901184" y="3886200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$4.00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6217920" y="3867912"/>
            <a:ext cx="1280160" cy="521208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272784" y="3886200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~$0.0003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7589520" y="3867912"/>
            <a:ext cx="868680" cy="521208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644384" y="3886200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Fast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8549640" y="3867912"/>
            <a:ext cx="3337560" cy="521208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8604504" y="3886200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Best writing quality; 6× more than GPT-4o mini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228600" y="4754880"/>
            <a:ext cx="11704320" cy="1783080"/>
          </a:xfrm>
          <a:prstGeom prst="roundRect">
            <a:avLst>
              <a:gd name="adj" fmla="val 4103"/>
            </a:avLst>
          </a:prstGeom>
          <a:solidFill>
            <a:srgbClr val="001510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228600" y="4754880"/>
            <a:ext cx="64008" cy="1783080"/>
          </a:xfrm>
          <a:prstGeom prst="rect">
            <a:avLst/>
          </a:prstGeom>
          <a:solidFill>
            <a:srgbClr val="52C4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11480" y="48463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2C41A"/>
                </a:solidFill>
              </a:rPr>
              <a:t>★  Two-Step Recommendation</a:t>
            </a:r>
            <a:endParaRPr lang="en-US" sz="1300" dirty="0"/>
          </a:p>
        </p:txBody>
      </p:sp>
      <p:sp>
        <p:nvSpPr>
          <p:cNvPr id="93" name="Text 91"/>
          <p:cNvSpPr/>
          <p:nvPr/>
        </p:nvSpPr>
        <p:spPr>
          <a:xfrm>
            <a:off x="411480" y="518464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</a:rPr>
              <a:t>Step 1 (Quick Fix): Change settings.py  OPENAI_MODEL  default from  'gpt-4o'  →  'gpt-4o-mini'  — saves 94% immediately.</a:t>
            </a:r>
            <a:endParaRPr lang="en-US" sz="950" dirty="0"/>
          </a:p>
        </p:txBody>
      </p:sp>
      <p:sp>
        <p:nvSpPr>
          <p:cNvPr id="94" name="Text 92"/>
          <p:cNvSpPr/>
          <p:nvPr/>
        </p:nvSpPr>
        <p:spPr>
          <a:xfrm>
            <a:off x="411480" y="548640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</a:rPr>
              <a:t>Step 2 (Best): Route motivational messages to Gemini 2.5 Flash (already integrated) — removes OpenAI dependency for this feature entirely,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</a:rPr>
              <a:t>keeping the OPEN_AI_NUTRITION_API_KEY solely for DALL-E image generation.</a:t>
            </a:r>
            <a:endParaRPr lang="en-US" sz="950" dirty="0"/>
          </a:p>
        </p:txBody>
      </p:sp>
      <p:sp>
        <p:nvSpPr>
          <p:cNvPr id="95" name="Text 93"/>
          <p:cNvSpPr/>
          <p:nvPr/>
        </p:nvSpPr>
        <p:spPr>
          <a:xfrm>
            <a:off x="411480" y="6035040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</a:rPr>
              <a:t>Fallback messages (FALLBACK_MESSAGES dict) are already excellent — they cover all streak tiers and require zero API cost.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6459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6C63FF"/>
                </a:solidFill>
              </a:rPr>
              <a:t>ACTION ITEMS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228600" y="457200"/>
            <a:ext cx="1170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Issues Found &amp; Recommended Fixes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987552"/>
            <a:ext cx="11704320" cy="18288"/>
          </a:xfrm>
          <a:prstGeom prst="rect">
            <a:avLst/>
          </a:prstGeom>
          <a:solidFill>
            <a:srgbClr val="2A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188720"/>
            <a:ext cx="11704320" cy="987552"/>
          </a:xfrm>
          <a:prstGeom prst="roundRect">
            <a:avLst>
              <a:gd name="adj" fmla="val 7407"/>
            </a:avLst>
          </a:prstGeom>
          <a:solidFill>
            <a:srgbClr val="1A1A2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88720"/>
            <a:ext cx="64008" cy="987552"/>
          </a:xfrm>
          <a:prstGeom prst="rect">
            <a:avLst/>
          </a:prstGeom>
          <a:solidFill>
            <a:srgbClr val="FF4D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21615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4D4F"/>
                </a:solidFill>
              </a:rPr>
              <a:t>🔴 HIGH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600200" y="1216152"/>
            <a:ext cx="10149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Fix gpt-4o → gpt-4o-mini in settings.py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1490472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</a:rPr>
              <a:t>config/settings.py line 398: change default from 'gpt-4o' to 'gpt-4o-mini'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</a:rPr>
              <a:t>Impact: 94% cost reduction on motivational messages. 1-line change.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28600" y="2240280"/>
            <a:ext cx="11704320" cy="987552"/>
          </a:xfrm>
          <a:prstGeom prst="roundRect">
            <a:avLst>
              <a:gd name="adj" fmla="val 7407"/>
            </a:avLst>
          </a:prstGeom>
          <a:solidFill>
            <a:srgbClr val="16213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" y="2240280"/>
            <a:ext cx="64008" cy="987552"/>
          </a:xfrm>
          <a:prstGeom prst="rect">
            <a:avLst/>
          </a:prstGeom>
          <a:solidFill>
            <a:srgbClr val="FAAD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26771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AAD14"/>
                </a:solidFill>
              </a:rPr>
              <a:t>🟡 MEDIUM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00200" y="2267712"/>
            <a:ext cx="10149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Add provider-level fallback for Gemini features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4048" y="2542032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</a:rPr>
              <a:t>Currently all 4 Gemini features (chat, plan, food scan, nutrition) fail together if Gemini API goes down.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</a:rPr>
              <a:t>Add Groq (Llama 3.3 70B) or OpenAI GPT-4o mini as secondary provider fallback.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28600" y="3291840"/>
            <a:ext cx="11704320" cy="987552"/>
          </a:xfrm>
          <a:prstGeom prst="roundRect">
            <a:avLst>
              <a:gd name="adj" fmla="val 7407"/>
            </a:avLst>
          </a:prstGeom>
          <a:solidFill>
            <a:srgbClr val="1A1A2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3291840"/>
            <a:ext cx="64008" cy="987552"/>
          </a:xfrm>
          <a:prstGeom prst="rect">
            <a:avLst/>
          </a:prstGeom>
          <a:solidFill>
            <a:srgbClr val="FAAD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331927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AAD14"/>
                </a:solidFill>
              </a:rPr>
              <a:t>🟡 MEDIUM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600200" y="3319272"/>
            <a:ext cx="10149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Food Scanner: use settings-based model names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4048" y="3593592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</a:rPr>
              <a:t>ai_proxy/views.py FoodScanView hardcodes ['gemini-2.5-flash', 'gemini-2.0-flash'] instead of reading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</a:rPr>
              <a:t>GEMINI_TEXT_MODEL / GEMINI_TEXT_FALLBACK_MODEL from settings like all other Gemini services do.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28600" y="4343400"/>
            <a:ext cx="11704320" cy="987552"/>
          </a:xfrm>
          <a:prstGeom prst="roundRect">
            <a:avLst>
              <a:gd name="adj" fmla="val 7407"/>
            </a:avLst>
          </a:prstGeom>
          <a:solidFill>
            <a:srgbClr val="16213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" y="4343400"/>
            <a:ext cx="64008" cy="987552"/>
          </a:xfrm>
          <a:prstGeom prst="rect">
            <a:avLst/>
          </a:prstGeom>
          <a:solidFill>
            <a:srgbClr val="52C4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437083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2C41A"/>
                </a:solidFill>
              </a:rPr>
              <a:t>🟢 LOW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600200" y="4370832"/>
            <a:ext cx="10149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Cache meal images by (meal_name, goal) hash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84048" y="4645152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</a:rPr>
              <a:t>Meal images are re-generated every time a nutrition plan is triggered.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</a:rPr>
              <a:t>Cache by a hash of meal_name + fitness_goal to avoid redundant DALL-E charges at scale.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28600" y="5394960"/>
            <a:ext cx="11704320" cy="987552"/>
          </a:xfrm>
          <a:prstGeom prst="roundRect">
            <a:avLst>
              <a:gd name="adj" fmla="val 7407"/>
            </a:avLst>
          </a:prstGeom>
          <a:solidFill>
            <a:srgbClr val="1A1A2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8600" y="5394960"/>
            <a:ext cx="64008" cy="987552"/>
          </a:xfrm>
          <a:prstGeom prst="rect">
            <a:avLst/>
          </a:prstGeom>
          <a:solidFill>
            <a:srgbClr val="52C4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542239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2C41A"/>
                </a:solidFill>
              </a:rPr>
              <a:t>🟢 LOW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600200" y="5422392"/>
            <a:ext cx="10149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Add retry/backoff on DALL-E RateLimitError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84048" y="5696712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</a:rPr>
              <a:t>recommendations/services.py: OpenAI image generation has no rate-limit handling.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</a:rPr>
              <a:t>Add exponential backoff on openai.RateLimitError to prevent silent failures.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6459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6C63FF"/>
                </a:solidFill>
              </a:rPr>
              <a:t>SUMMARY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228600" y="457200"/>
            <a:ext cx="1170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Recommended Final Stack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987552"/>
            <a:ext cx="11704320" cy="18288"/>
          </a:xfrm>
          <a:prstGeom prst="rect">
            <a:avLst/>
          </a:prstGeom>
          <a:solidFill>
            <a:srgbClr val="2A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188720"/>
            <a:ext cx="2148840" cy="384048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3464" y="120700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Feature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468880" y="1188720"/>
            <a:ext cx="1874520" cy="384048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23744" y="12070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Current Model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434840" y="1188720"/>
            <a:ext cx="2331720" cy="384048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9704" y="120700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Recommendation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858000" y="1188720"/>
            <a:ext cx="1417320" cy="384048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12864" y="120700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Provider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366760" y="1188720"/>
            <a:ext cx="3337560" cy="384048"/>
          </a:xfrm>
          <a:prstGeom prst="rect">
            <a:avLst/>
          </a:prstGeom>
          <a:solidFill>
            <a:srgbClr val="6C63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21624" y="120700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Action Required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28600" y="1600200"/>
            <a:ext cx="2148840" cy="466344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3464" y="161848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CCCCCC"/>
                </a:solidFill>
              </a:rPr>
              <a:t>💬 Visor AI Chat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2468880" y="1600200"/>
            <a:ext cx="1874520" cy="466344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23744" y="161848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CCCCC"/>
                </a:solidFill>
              </a:rPr>
              <a:t>Gemini 2.5 Flash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4434840" y="1600200"/>
            <a:ext cx="2331720" cy="466344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9704" y="161848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2C41A"/>
                </a:solidFill>
              </a:rPr>
              <a:t>Keep ✅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6858000" y="1600200"/>
            <a:ext cx="1417320" cy="466344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12864" y="161848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CCCCC"/>
                </a:solidFill>
              </a:rPr>
              <a:t>Google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8366760" y="1600200"/>
            <a:ext cx="3337560" cy="466344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21624" y="161848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CCCCC"/>
                </a:solidFill>
              </a:rPr>
              <a:t>Add Groq as provider fallback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28600" y="2112264"/>
            <a:ext cx="2148840" cy="466344"/>
          </a:xfrm>
          <a:prstGeom prst="rect">
            <a:avLst/>
          </a:prstGeom>
          <a:solidFill>
            <a:srgbClr val="16213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3464" y="2130552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CCCCCC"/>
                </a:solidFill>
              </a:rPr>
              <a:t>📋 AI Plan Generation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2468880" y="2112264"/>
            <a:ext cx="1874520" cy="466344"/>
          </a:xfrm>
          <a:prstGeom prst="rect">
            <a:avLst/>
          </a:prstGeom>
          <a:solidFill>
            <a:srgbClr val="16213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23744" y="213055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CCCCC"/>
                </a:solidFill>
              </a:rPr>
              <a:t>Gemini 2.5 Flash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4434840" y="2112264"/>
            <a:ext cx="2331720" cy="466344"/>
          </a:xfrm>
          <a:prstGeom prst="rect">
            <a:avLst/>
          </a:prstGeom>
          <a:solidFill>
            <a:srgbClr val="16213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89704" y="213055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2C41A"/>
                </a:solidFill>
              </a:rPr>
              <a:t>Keep ✅</a:t>
            </a:r>
            <a:endParaRPr lang="en-US" sz="780" dirty="0"/>
          </a:p>
        </p:txBody>
      </p:sp>
      <p:sp>
        <p:nvSpPr>
          <p:cNvPr id="32" name="Shape 30"/>
          <p:cNvSpPr/>
          <p:nvPr/>
        </p:nvSpPr>
        <p:spPr>
          <a:xfrm>
            <a:off x="6858000" y="2112264"/>
            <a:ext cx="1417320" cy="466344"/>
          </a:xfrm>
          <a:prstGeom prst="rect">
            <a:avLst/>
          </a:prstGeom>
          <a:solidFill>
            <a:srgbClr val="16213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12864" y="213055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CCCCC"/>
                </a:solidFill>
              </a:rPr>
              <a:t>Google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8366760" y="2112264"/>
            <a:ext cx="3337560" cy="466344"/>
          </a:xfrm>
          <a:prstGeom prst="rect">
            <a:avLst/>
          </a:prstGeom>
          <a:solidFill>
            <a:srgbClr val="16213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21624" y="213055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CCCCC"/>
                </a:solidFill>
              </a:rPr>
              <a:t>Add Groq as provider fallback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228600" y="2624328"/>
            <a:ext cx="2148840" cy="466344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83464" y="2642616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CCCCCC"/>
                </a:solidFill>
              </a:rPr>
              <a:t>📸 Food Scanner</a:t>
            </a:r>
            <a:endParaRPr lang="en-US" sz="780" dirty="0"/>
          </a:p>
        </p:txBody>
      </p:sp>
      <p:sp>
        <p:nvSpPr>
          <p:cNvPr id="38" name="Shape 36"/>
          <p:cNvSpPr/>
          <p:nvPr/>
        </p:nvSpPr>
        <p:spPr>
          <a:xfrm>
            <a:off x="2468880" y="2624328"/>
            <a:ext cx="1874520" cy="466344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23744" y="2642616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CCCCC"/>
                </a:solidFill>
              </a:rPr>
              <a:t>Gemini 2.5 Flash</a:t>
            </a:r>
            <a:endParaRPr lang="en-US" sz="780" dirty="0"/>
          </a:p>
        </p:txBody>
      </p:sp>
      <p:sp>
        <p:nvSpPr>
          <p:cNvPr id="40" name="Shape 38"/>
          <p:cNvSpPr/>
          <p:nvPr/>
        </p:nvSpPr>
        <p:spPr>
          <a:xfrm>
            <a:off x="4434840" y="2624328"/>
            <a:ext cx="2331720" cy="466344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89704" y="2642616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AAD14"/>
                </a:solidFill>
              </a:rPr>
              <a:t>Keep ✅</a:t>
            </a:r>
            <a:endParaRPr lang="en-US" sz="780" dirty="0"/>
          </a:p>
        </p:txBody>
      </p:sp>
      <p:sp>
        <p:nvSpPr>
          <p:cNvPr id="42" name="Shape 40"/>
          <p:cNvSpPr/>
          <p:nvPr/>
        </p:nvSpPr>
        <p:spPr>
          <a:xfrm>
            <a:off x="6858000" y="2624328"/>
            <a:ext cx="1417320" cy="466344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12864" y="2642616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CCCCC"/>
                </a:solidFill>
              </a:rPr>
              <a:t>Google</a:t>
            </a:r>
            <a:endParaRPr lang="en-US" sz="780" dirty="0"/>
          </a:p>
        </p:txBody>
      </p:sp>
      <p:sp>
        <p:nvSpPr>
          <p:cNvPr id="44" name="Shape 42"/>
          <p:cNvSpPr/>
          <p:nvPr/>
        </p:nvSpPr>
        <p:spPr>
          <a:xfrm>
            <a:off x="8366760" y="2624328"/>
            <a:ext cx="3337560" cy="466344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421624" y="2642616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CCCCC"/>
                </a:solidFill>
              </a:rPr>
              <a:t>Use settings vars not hardcoded</a:t>
            </a:r>
            <a:endParaRPr lang="en-US" sz="780" dirty="0"/>
          </a:p>
        </p:txBody>
      </p:sp>
      <p:sp>
        <p:nvSpPr>
          <p:cNvPr id="46" name="Shape 44"/>
          <p:cNvSpPr/>
          <p:nvPr/>
        </p:nvSpPr>
        <p:spPr>
          <a:xfrm>
            <a:off x="228600" y="3136392"/>
            <a:ext cx="2148840" cy="466344"/>
          </a:xfrm>
          <a:prstGeom prst="rect">
            <a:avLst/>
          </a:prstGeom>
          <a:solidFill>
            <a:srgbClr val="16213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83464" y="31546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CCCCCC"/>
                </a:solidFill>
              </a:rPr>
              <a:t>🥗 Nutrition Plan</a:t>
            </a:r>
            <a:endParaRPr lang="en-US" sz="780" dirty="0"/>
          </a:p>
        </p:txBody>
      </p:sp>
      <p:sp>
        <p:nvSpPr>
          <p:cNvPr id="48" name="Shape 46"/>
          <p:cNvSpPr/>
          <p:nvPr/>
        </p:nvSpPr>
        <p:spPr>
          <a:xfrm>
            <a:off x="2468880" y="3136392"/>
            <a:ext cx="1874520" cy="466344"/>
          </a:xfrm>
          <a:prstGeom prst="rect">
            <a:avLst/>
          </a:prstGeom>
          <a:solidFill>
            <a:srgbClr val="16213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523744" y="31546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CCCCC"/>
                </a:solidFill>
              </a:rPr>
              <a:t>Gemini 2.5 Flash</a:t>
            </a:r>
            <a:endParaRPr lang="en-US" sz="780" dirty="0"/>
          </a:p>
        </p:txBody>
      </p:sp>
      <p:sp>
        <p:nvSpPr>
          <p:cNvPr id="50" name="Shape 48"/>
          <p:cNvSpPr/>
          <p:nvPr/>
        </p:nvSpPr>
        <p:spPr>
          <a:xfrm>
            <a:off x="4434840" y="3136392"/>
            <a:ext cx="2331720" cy="466344"/>
          </a:xfrm>
          <a:prstGeom prst="rect">
            <a:avLst/>
          </a:prstGeom>
          <a:solidFill>
            <a:srgbClr val="16213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489704" y="31546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2C41A"/>
                </a:solidFill>
              </a:rPr>
              <a:t>Keep ✅</a:t>
            </a:r>
            <a:endParaRPr lang="en-US" sz="780" dirty="0"/>
          </a:p>
        </p:txBody>
      </p:sp>
      <p:sp>
        <p:nvSpPr>
          <p:cNvPr id="52" name="Shape 50"/>
          <p:cNvSpPr/>
          <p:nvPr/>
        </p:nvSpPr>
        <p:spPr>
          <a:xfrm>
            <a:off x="6858000" y="3136392"/>
            <a:ext cx="1417320" cy="466344"/>
          </a:xfrm>
          <a:prstGeom prst="rect">
            <a:avLst/>
          </a:prstGeom>
          <a:solidFill>
            <a:srgbClr val="16213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912864" y="31546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CCCCC"/>
                </a:solidFill>
              </a:rPr>
              <a:t>Google</a:t>
            </a:r>
            <a:endParaRPr lang="en-US" sz="780" dirty="0"/>
          </a:p>
        </p:txBody>
      </p:sp>
      <p:sp>
        <p:nvSpPr>
          <p:cNvPr id="54" name="Shape 52"/>
          <p:cNvSpPr/>
          <p:nvPr/>
        </p:nvSpPr>
        <p:spPr>
          <a:xfrm>
            <a:off x="8366760" y="3136392"/>
            <a:ext cx="3337560" cy="466344"/>
          </a:xfrm>
          <a:prstGeom prst="rect">
            <a:avLst/>
          </a:prstGeom>
          <a:solidFill>
            <a:srgbClr val="16213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421624" y="31546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CCCCC"/>
                </a:solidFill>
              </a:rPr>
              <a:t>No change needed</a:t>
            </a:r>
            <a:endParaRPr lang="en-US" sz="780" dirty="0"/>
          </a:p>
        </p:txBody>
      </p:sp>
      <p:sp>
        <p:nvSpPr>
          <p:cNvPr id="56" name="Shape 54"/>
          <p:cNvSpPr/>
          <p:nvPr/>
        </p:nvSpPr>
        <p:spPr>
          <a:xfrm>
            <a:off x="228600" y="3648456"/>
            <a:ext cx="2148840" cy="466344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83464" y="3666744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CCCCCC"/>
                </a:solidFill>
              </a:rPr>
              <a:t>🍽️ Meal Images</a:t>
            </a:r>
            <a:endParaRPr lang="en-US" sz="780" dirty="0"/>
          </a:p>
        </p:txBody>
      </p:sp>
      <p:sp>
        <p:nvSpPr>
          <p:cNvPr id="58" name="Shape 56"/>
          <p:cNvSpPr/>
          <p:nvPr/>
        </p:nvSpPr>
        <p:spPr>
          <a:xfrm>
            <a:off x="2468880" y="3648456"/>
            <a:ext cx="1874520" cy="466344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523744" y="3666744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CCCCC"/>
                </a:solidFill>
              </a:rPr>
              <a:t>DALL-E 3</a:t>
            </a:r>
            <a:endParaRPr lang="en-US" sz="780" dirty="0"/>
          </a:p>
        </p:txBody>
      </p:sp>
      <p:sp>
        <p:nvSpPr>
          <p:cNvPr id="60" name="Shape 58"/>
          <p:cNvSpPr/>
          <p:nvPr/>
        </p:nvSpPr>
        <p:spPr>
          <a:xfrm>
            <a:off x="4434840" y="3648456"/>
            <a:ext cx="2331720" cy="466344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489704" y="3666744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2C41A"/>
                </a:solidFill>
              </a:rPr>
              <a:t>Keep ✅</a:t>
            </a:r>
            <a:endParaRPr lang="en-US" sz="780" dirty="0"/>
          </a:p>
        </p:txBody>
      </p:sp>
      <p:sp>
        <p:nvSpPr>
          <p:cNvPr id="62" name="Shape 60"/>
          <p:cNvSpPr/>
          <p:nvPr/>
        </p:nvSpPr>
        <p:spPr>
          <a:xfrm>
            <a:off x="6858000" y="3648456"/>
            <a:ext cx="1417320" cy="466344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912864" y="3666744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CCCCC"/>
                </a:solidFill>
              </a:rPr>
              <a:t>OpenAI</a:t>
            </a:r>
            <a:endParaRPr lang="en-US" sz="780" dirty="0"/>
          </a:p>
        </p:txBody>
      </p:sp>
      <p:sp>
        <p:nvSpPr>
          <p:cNvPr id="64" name="Shape 62"/>
          <p:cNvSpPr/>
          <p:nvPr/>
        </p:nvSpPr>
        <p:spPr>
          <a:xfrm>
            <a:off x="8366760" y="3648456"/>
            <a:ext cx="3337560" cy="466344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421624" y="3666744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CCCCC"/>
                </a:solidFill>
              </a:rPr>
              <a:t>Add image caching</a:t>
            </a:r>
            <a:endParaRPr lang="en-US" sz="780" dirty="0"/>
          </a:p>
        </p:txBody>
      </p:sp>
      <p:sp>
        <p:nvSpPr>
          <p:cNvPr id="66" name="Shape 64"/>
          <p:cNvSpPr/>
          <p:nvPr/>
        </p:nvSpPr>
        <p:spPr>
          <a:xfrm>
            <a:off x="228600" y="4160520"/>
            <a:ext cx="2148840" cy="466344"/>
          </a:xfrm>
          <a:prstGeom prst="rect">
            <a:avLst/>
          </a:prstGeom>
          <a:solidFill>
            <a:srgbClr val="16213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83464" y="417880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CCCCCC"/>
                </a:solidFill>
              </a:rPr>
              <a:t>🏅 Motivational Messages</a:t>
            </a:r>
            <a:endParaRPr lang="en-US" sz="780" dirty="0"/>
          </a:p>
        </p:txBody>
      </p:sp>
      <p:sp>
        <p:nvSpPr>
          <p:cNvPr id="68" name="Shape 66"/>
          <p:cNvSpPr/>
          <p:nvPr/>
        </p:nvSpPr>
        <p:spPr>
          <a:xfrm>
            <a:off x="2468880" y="4160520"/>
            <a:ext cx="1874520" cy="466344"/>
          </a:xfrm>
          <a:prstGeom prst="rect">
            <a:avLst/>
          </a:prstGeom>
          <a:solidFill>
            <a:srgbClr val="16213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523744" y="417880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CCCCC"/>
                </a:solidFill>
              </a:rPr>
              <a:t>gpt-4o  ⚠️</a:t>
            </a:r>
            <a:endParaRPr lang="en-US" sz="780" dirty="0"/>
          </a:p>
        </p:txBody>
      </p:sp>
      <p:sp>
        <p:nvSpPr>
          <p:cNvPr id="70" name="Shape 68"/>
          <p:cNvSpPr/>
          <p:nvPr/>
        </p:nvSpPr>
        <p:spPr>
          <a:xfrm>
            <a:off x="4434840" y="4160520"/>
            <a:ext cx="2331720" cy="466344"/>
          </a:xfrm>
          <a:prstGeom prst="rect">
            <a:avLst/>
          </a:prstGeom>
          <a:solidFill>
            <a:srgbClr val="16213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489704" y="417880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F4D4F"/>
                </a:solidFill>
              </a:rPr>
              <a:t>gpt-4o-mini or Gemini 2.5 Flash</a:t>
            </a:r>
            <a:endParaRPr lang="en-US" sz="780" dirty="0"/>
          </a:p>
        </p:txBody>
      </p:sp>
      <p:sp>
        <p:nvSpPr>
          <p:cNvPr id="72" name="Shape 70"/>
          <p:cNvSpPr/>
          <p:nvPr/>
        </p:nvSpPr>
        <p:spPr>
          <a:xfrm>
            <a:off x="6858000" y="4160520"/>
            <a:ext cx="1417320" cy="466344"/>
          </a:xfrm>
          <a:prstGeom prst="rect">
            <a:avLst/>
          </a:prstGeom>
          <a:solidFill>
            <a:srgbClr val="16213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912864" y="417880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CCCCC"/>
                </a:solidFill>
              </a:rPr>
              <a:t>OpenAI → Google</a:t>
            </a:r>
            <a:endParaRPr lang="en-US" sz="780" dirty="0"/>
          </a:p>
        </p:txBody>
      </p:sp>
      <p:sp>
        <p:nvSpPr>
          <p:cNvPr id="74" name="Shape 72"/>
          <p:cNvSpPr/>
          <p:nvPr/>
        </p:nvSpPr>
        <p:spPr>
          <a:xfrm>
            <a:off x="8366760" y="4160520"/>
            <a:ext cx="3337560" cy="466344"/>
          </a:xfrm>
          <a:prstGeom prst="rect">
            <a:avLst/>
          </a:prstGeom>
          <a:solidFill>
            <a:srgbClr val="16213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421624" y="417880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AAD14"/>
                </a:solidFill>
              </a:rPr>
              <a:t>URGENT: fix model in settings.py</a:t>
            </a:r>
            <a:endParaRPr lang="en-US" sz="780" dirty="0"/>
          </a:p>
        </p:txBody>
      </p:sp>
      <p:sp>
        <p:nvSpPr>
          <p:cNvPr id="76" name="Shape 74"/>
          <p:cNvSpPr/>
          <p:nvPr/>
        </p:nvSpPr>
        <p:spPr>
          <a:xfrm>
            <a:off x="228600" y="4672584"/>
            <a:ext cx="2148840" cy="466344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83464" y="4690872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CCCCCC"/>
                </a:solidFill>
              </a:rPr>
              <a:t>⚡ Body Transform/Projections</a:t>
            </a:r>
            <a:endParaRPr lang="en-US" sz="780" dirty="0"/>
          </a:p>
        </p:txBody>
      </p:sp>
      <p:sp>
        <p:nvSpPr>
          <p:cNvPr id="78" name="Shape 76"/>
          <p:cNvSpPr/>
          <p:nvPr/>
        </p:nvSpPr>
        <p:spPr>
          <a:xfrm>
            <a:off x="2468880" y="4672584"/>
            <a:ext cx="1874520" cy="466344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523744" y="469087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CCCCC"/>
                </a:solidFill>
              </a:rPr>
              <a:t>GPU Backend</a:t>
            </a:r>
            <a:endParaRPr lang="en-US" sz="780" dirty="0"/>
          </a:p>
        </p:txBody>
      </p:sp>
      <p:sp>
        <p:nvSpPr>
          <p:cNvPr id="80" name="Shape 78"/>
          <p:cNvSpPr/>
          <p:nvPr/>
        </p:nvSpPr>
        <p:spPr>
          <a:xfrm>
            <a:off x="4434840" y="4672584"/>
            <a:ext cx="2331720" cy="466344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489704" y="469087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2C41A"/>
                </a:solidFill>
              </a:rPr>
              <a:t>Keep ✅</a:t>
            </a:r>
            <a:endParaRPr lang="en-US" sz="780" dirty="0"/>
          </a:p>
        </p:txBody>
      </p:sp>
      <p:sp>
        <p:nvSpPr>
          <p:cNvPr id="82" name="Shape 80"/>
          <p:cNvSpPr/>
          <p:nvPr/>
        </p:nvSpPr>
        <p:spPr>
          <a:xfrm>
            <a:off x="6858000" y="4672584"/>
            <a:ext cx="1417320" cy="466344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912864" y="469087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CCCCC"/>
                </a:solidFill>
              </a:rPr>
              <a:t>Internal</a:t>
            </a:r>
            <a:endParaRPr lang="en-US" sz="780" dirty="0"/>
          </a:p>
        </p:txBody>
      </p:sp>
      <p:sp>
        <p:nvSpPr>
          <p:cNvPr id="84" name="Shape 82"/>
          <p:cNvSpPr/>
          <p:nvPr/>
        </p:nvSpPr>
        <p:spPr>
          <a:xfrm>
            <a:off x="8366760" y="4672584"/>
            <a:ext cx="3337560" cy="466344"/>
          </a:xfrm>
          <a:prstGeom prst="rect">
            <a:avLst/>
          </a:prstGeom>
          <a:solidFill>
            <a:srgbClr val="1A1A2E"/>
          </a:solidFill>
          <a:ln w="6350">
            <a:solidFill>
              <a:srgbClr val="2A2A4A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8421624" y="469087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CCCCC"/>
                </a:solidFill>
              </a:rPr>
              <a:t>No change — correctly internal</a:t>
            </a:r>
            <a:endParaRPr lang="en-US" sz="780" dirty="0"/>
          </a:p>
        </p:txBody>
      </p:sp>
      <p:sp>
        <p:nvSpPr>
          <p:cNvPr id="86" name="Shape 84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228600" y="6309360"/>
            <a:ext cx="1170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Only 1 urgent action (model fix) · 2 medium actions (fallback + settings cleanup) · 2 low actions (caching + retry)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→ Current stack is well-chosen. Main risk is single-provider dependency on Gemini and the gpt-4o cost bug.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2026-09-03T20:57:22Z</dcterms:created>
  <dcterms:modified xsi:type="dcterms:W3CDTF">2026-09-03T20:57:22Z</dcterms:modified>
</cp:coreProperties>
</file>